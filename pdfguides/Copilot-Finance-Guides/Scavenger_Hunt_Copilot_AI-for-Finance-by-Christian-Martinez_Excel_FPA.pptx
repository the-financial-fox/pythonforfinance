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46" autoAdjust="0"/>
    <p:restoredTop sz="94610"/>
  </p:normalViewPr>
  <p:slideViewPr>
    <p:cSldViewPr snapToGrid="0" snapToObjects="1">
      <p:cViewPr varScale="1">
        <p:scale>
          <a:sx n="109" d="100"/>
          <a:sy n="109" d="100"/>
        </p:scale>
        <p:origin x="50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8711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NL"/>
          </a:p>
        </p:txBody>
      </p:sp>
      <p:sp>
        <p:nvSpPr>
          <p:cNvPr id="3" name="Shape 1"/>
          <p:cNvSpPr/>
          <p:nvPr/>
        </p:nvSpPr>
        <p:spPr>
          <a:xfrm>
            <a:off x="548640" y="1097280"/>
            <a:ext cx="54864" cy="2377440"/>
          </a:xfrm>
          <a:prstGeom prst="rect">
            <a:avLst/>
          </a:prstGeom>
          <a:solidFill>
            <a:srgbClr val="0D9488"/>
          </a:solidFill>
          <a:ln/>
        </p:spPr>
        <p:txBody>
          <a:bodyPr/>
          <a:lstStyle/>
          <a:p>
            <a:endParaRPr lang="en-NL"/>
          </a:p>
        </p:txBody>
      </p:sp>
      <p:pic>
        <p:nvPicPr>
          <p:cNvPr id="4" name="Image 0" descr="preencoded.png"/>
          <p:cNvPicPr>
            <a:picLocks noChangeAspect="1"/>
          </p:cNvPicPr>
          <p:nvPr/>
        </p:nvPicPr>
        <p:blipFill>
          <a:blip r:embed="rId3"/>
          <a:stretch>
            <a:fillRect/>
          </a:stretch>
        </p:blipFill>
        <p:spPr>
          <a:xfrm>
            <a:off x="822960" y="640080"/>
            <a:ext cx="457200" cy="457200"/>
          </a:xfrm>
          <a:prstGeom prst="rect">
            <a:avLst/>
          </a:prstGeom>
        </p:spPr>
      </p:pic>
      <p:sp>
        <p:nvSpPr>
          <p:cNvPr id="5" name="Text 2"/>
          <p:cNvSpPr/>
          <p:nvPr/>
        </p:nvSpPr>
        <p:spPr>
          <a:xfrm>
            <a:off x="822960" y="1097280"/>
            <a:ext cx="7315200" cy="640080"/>
          </a:xfrm>
          <a:prstGeom prst="rect">
            <a:avLst/>
          </a:prstGeom>
          <a:noFill/>
          <a:ln/>
        </p:spPr>
        <p:txBody>
          <a:bodyPr wrap="square" lIns="0" tIns="0" rIns="0" bIns="0" rtlCol="0" anchor="ctr"/>
          <a:lstStyle/>
          <a:p>
            <a:pPr marL="0" indent="0">
              <a:buNone/>
            </a:pPr>
            <a:r>
              <a:rPr lang="en-US" sz="1400" b="1" kern="0" spc="600" dirty="0">
                <a:solidFill>
                  <a:srgbClr val="0D9488"/>
                </a:solidFill>
                <a:latin typeface="Trebuchet MS" pitchFamily="34" charset="0"/>
                <a:ea typeface="Trebuchet MS" pitchFamily="34" charset="-122"/>
                <a:cs typeface="Trebuchet MS" pitchFamily="34" charset="-120"/>
              </a:rPr>
              <a:t>SCAVENGER HUNT</a:t>
            </a:r>
            <a:endParaRPr lang="en-US" sz="1400" dirty="0"/>
          </a:p>
        </p:txBody>
      </p:sp>
      <p:sp>
        <p:nvSpPr>
          <p:cNvPr id="6" name="Text 3"/>
          <p:cNvSpPr/>
          <p:nvPr/>
        </p:nvSpPr>
        <p:spPr>
          <a:xfrm>
            <a:off x="822960" y="1554480"/>
            <a:ext cx="7315200" cy="1371600"/>
          </a:xfrm>
          <a:prstGeom prst="rect">
            <a:avLst/>
          </a:prstGeom>
          <a:noFill/>
          <a:ln/>
        </p:spPr>
        <p:txBody>
          <a:bodyPr wrap="square" lIns="0" tIns="0" rIns="0" bIns="0" rtlCol="0" anchor="ctr"/>
          <a:lstStyle/>
          <a:p>
            <a:pPr marL="0" indent="0">
              <a:lnSpc>
                <a:spcPct val="110000"/>
              </a:lnSpc>
              <a:buNone/>
            </a:pPr>
            <a:r>
              <a:rPr lang="en-US" sz="3800" b="1" dirty="0">
                <a:solidFill>
                  <a:srgbClr val="FFFFFF"/>
                </a:solidFill>
                <a:latin typeface="Trebuchet MS" pitchFamily="34" charset="0"/>
                <a:ea typeface="Trebuchet MS" pitchFamily="34" charset="-122"/>
                <a:cs typeface="Trebuchet MS" pitchFamily="34" charset="-120"/>
              </a:rPr>
              <a:t>Copilot &amp; Microsoft AI</a:t>
            </a:r>
            <a:endParaRPr lang="en-US" sz="3800" dirty="0"/>
          </a:p>
          <a:p>
            <a:pPr marL="0" indent="0">
              <a:lnSpc>
                <a:spcPct val="110000"/>
              </a:lnSpc>
              <a:buNone/>
            </a:pPr>
            <a:r>
              <a:rPr lang="en-US" sz="3800" b="1" dirty="0">
                <a:solidFill>
                  <a:srgbClr val="FFFFFF"/>
                </a:solidFill>
                <a:latin typeface="Trebuchet MS" pitchFamily="34" charset="0"/>
                <a:ea typeface="Trebuchet MS" pitchFamily="34" charset="-122"/>
                <a:cs typeface="Trebuchet MS" pitchFamily="34" charset="-120"/>
              </a:rPr>
              <a:t>in Excel for FP&amp;A</a:t>
            </a:r>
            <a:endParaRPr lang="en-US" sz="3800" dirty="0"/>
          </a:p>
        </p:txBody>
      </p:sp>
      <p:sp>
        <p:nvSpPr>
          <p:cNvPr id="7" name="Text 4"/>
          <p:cNvSpPr/>
          <p:nvPr/>
        </p:nvSpPr>
        <p:spPr>
          <a:xfrm>
            <a:off x="822960" y="2926080"/>
            <a:ext cx="7315200" cy="45720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9 Exercises. 2 Weeks. Master the Technology.</a:t>
            </a:r>
            <a:endParaRPr lang="en-US" sz="1600" dirty="0"/>
          </a:p>
        </p:txBody>
      </p:sp>
      <p:sp>
        <p:nvSpPr>
          <p:cNvPr id="8" name="Text 5"/>
          <p:cNvSpPr/>
          <p:nvPr/>
        </p:nvSpPr>
        <p:spPr>
          <a:xfrm>
            <a:off x="822960" y="3749040"/>
            <a:ext cx="457200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by Christian Martinez</a:t>
            </a:r>
            <a:endParaRPr lang="en-US" sz="1300" dirty="0"/>
          </a:p>
        </p:txBody>
      </p:sp>
      <p:sp>
        <p:nvSpPr>
          <p:cNvPr id="9" name="Shape 6"/>
          <p:cNvSpPr/>
          <p:nvPr/>
        </p:nvSpPr>
        <p:spPr>
          <a:xfrm>
            <a:off x="0" y="4572000"/>
            <a:ext cx="9144000" cy="571500"/>
          </a:xfrm>
          <a:prstGeom prst="rect">
            <a:avLst/>
          </a:prstGeom>
          <a:solidFill>
            <a:srgbClr val="091420"/>
          </a:solidFill>
          <a:ln/>
        </p:spPr>
        <p:txBody>
          <a:bodyPr/>
          <a:lstStyle/>
          <a:p>
            <a:endParaRPr lang="en-NL"/>
          </a:p>
        </p:txBody>
      </p:sp>
      <p:sp>
        <p:nvSpPr>
          <p:cNvPr id="10" name="Text 7"/>
          <p:cNvSpPr/>
          <p:nvPr/>
        </p:nvSpPr>
        <p:spPr>
          <a:xfrm>
            <a:off x="548640" y="4617720"/>
            <a:ext cx="8046720" cy="5029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 CFO-led initiative to upskill your finance team with hands-on AI exercises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NL"/>
          </a:p>
        </p:txBody>
      </p:sp>
      <p:sp>
        <p:nvSpPr>
          <p:cNvPr id="3" name="Text 1"/>
          <p:cNvSpPr/>
          <p:nvPr/>
        </p:nvSpPr>
        <p:spPr>
          <a:xfrm>
            <a:off x="548640" y="320040"/>
            <a:ext cx="7315200" cy="45720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THE CHALLENGE</a:t>
            </a:r>
            <a:endParaRPr lang="en-US" sz="2800" dirty="0"/>
          </a:p>
        </p:txBody>
      </p:sp>
      <p:sp>
        <p:nvSpPr>
          <p:cNvPr id="4" name="Text 2"/>
          <p:cNvSpPr/>
          <p:nvPr/>
        </p:nvSpPr>
        <p:spPr>
          <a:xfrm>
            <a:off x="548640" y="914400"/>
            <a:ext cx="8046720" cy="914400"/>
          </a:xfrm>
          <a:prstGeom prst="rect">
            <a:avLst/>
          </a:prstGeom>
          <a:noFill/>
          <a:ln/>
        </p:spPr>
        <p:txBody>
          <a:bodyPr wrap="square" lIns="0" tIns="0" rIns="0" bIns="0" rtlCol="0" anchor="ctr"/>
          <a:lstStyle/>
          <a:p>
            <a:pPr marL="0" indent="0">
              <a:lnSpc>
                <a:spcPct val="140000"/>
              </a:lnSpc>
              <a:buNone/>
            </a:pPr>
            <a:r>
              <a:rPr lang="en-US" sz="1400" dirty="0">
                <a:solidFill>
                  <a:srgbClr val="64748B"/>
                </a:solidFill>
                <a:latin typeface="Calibri" pitchFamily="34" charset="0"/>
                <a:ea typeface="Calibri" pitchFamily="34" charset="-122"/>
                <a:cs typeface="Calibri" pitchFamily="34" charset="-120"/>
              </a:rPr>
              <a:t>Microsoft's AI ecosystem in Excel is evolving fast — Copilot, Agent Mode, Python in Excel, and the =COPILOT() formula are all live. But most finance teams haven't had time to explore them. This scavenger hunt is designed to change that.</a:t>
            </a:r>
            <a:endParaRPr lang="en-US" sz="1400" dirty="0"/>
          </a:p>
        </p:txBody>
      </p:sp>
      <p:sp>
        <p:nvSpPr>
          <p:cNvPr id="5" name="Shape 3"/>
          <p:cNvSpPr/>
          <p:nvPr/>
        </p:nvSpPr>
        <p:spPr>
          <a:xfrm>
            <a:off x="548640" y="2103120"/>
            <a:ext cx="2560320" cy="14630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NL"/>
          </a:p>
        </p:txBody>
      </p:sp>
      <p:sp>
        <p:nvSpPr>
          <p:cNvPr id="6" name="Shape 4"/>
          <p:cNvSpPr/>
          <p:nvPr/>
        </p:nvSpPr>
        <p:spPr>
          <a:xfrm>
            <a:off x="548640" y="2103120"/>
            <a:ext cx="2560320" cy="54864"/>
          </a:xfrm>
          <a:prstGeom prst="rect">
            <a:avLst/>
          </a:prstGeom>
          <a:solidFill>
            <a:srgbClr val="0D9488"/>
          </a:solidFill>
          <a:ln/>
        </p:spPr>
        <p:txBody>
          <a:bodyPr/>
          <a:lstStyle/>
          <a:p>
            <a:endParaRPr lang="en-NL"/>
          </a:p>
        </p:txBody>
      </p:sp>
      <p:pic>
        <p:nvPicPr>
          <p:cNvPr id="7" name="Image 0" descr="preencoded.png"/>
          <p:cNvPicPr>
            <a:picLocks noChangeAspect="1"/>
          </p:cNvPicPr>
          <p:nvPr/>
        </p:nvPicPr>
        <p:blipFill>
          <a:blip r:embed="rId3"/>
          <a:stretch>
            <a:fillRect/>
          </a:stretch>
        </p:blipFill>
        <p:spPr>
          <a:xfrm>
            <a:off x="731520" y="2331720"/>
            <a:ext cx="320040" cy="320040"/>
          </a:xfrm>
          <a:prstGeom prst="rect">
            <a:avLst/>
          </a:prstGeom>
        </p:spPr>
      </p:pic>
      <p:sp>
        <p:nvSpPr>
          <p:cNvPr id="8" name="Text 5"/>
          <p:cNvSpPr/>
          <p:nvPr/>
        </p:nvSpPr>
        <p:spPr>
          <a:xfrm>
            <a:off x="1097280" y="2286000"/>
            <a:ext cx="1645920" cy="457200"/>
          </a:xfrm>
          <a:prstGeom prst="rect">
            <a:avLst/>
          </a:prstGeom>
          <a:noFill/>
          <a:ln/>
        </p:spPr>
        <p:txBody>
          <a:bodyPr wrap="square" lIns="0" tIns="0" rIns="0" bIns="0" rtlCol="0" anchor="ctr"/>
          <a:lstStyle/>
          <a:p>
            <a:pPr marL="0" indent="0">
              <a:buNone/>
            </a:pPr>
            <a:r>
              <a:rPr lang="en-US" sz="3600" b="1" dirty="0">
                <a:solidFill>
                  <a:srgbClr val="1E293B"/>
                </a:solidFill>
                <a:latin typeface="Trebuchet MS" pitchFamily="34" charset="0"/>
                <a:ea typeface="Trebuchet MS" pitchFamily="34" charset="-122"/>
                <a:cs typeface="Trebuchet MS" pitchFamily="34" charset="-120"/>
              </a:rPr>
              <a:t>9</a:t>
            </a:r>
            <a:endParaRPr lang="en-US" sz="3600" dirty="0"/>
          </a:p>
        </p:txBody>
      </p:sp>
      <p:sp>
        <p:nvSpPr>
          <p:cNvPr id="9" name="Text 6"/>
          <p:cNvSpPr/>
          <p:nvPr/>
        </p:nvSpPr>
        <p:spPr>
          <a:xfrm>
            <a:off x="731520" y="2926080"/>
            <a:ext cx="219456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Guided Exercises</a:t>
            </a:r>
            <a:endParaRPr lang="en-US" sz="1300" dirty="0"/>
          </a:p>
        </p:txBody>
      </p:sp>
      <p:sp>
        <p:nvSpPr>
          <p:cNvPr id="10" name="Shape 7"/>
          <p:cNvSpPr/>
          <p:nvPr/>
        </p:nvSpPr>
        <p:spPr>
          <a:xfrm>
            <a:off x="3383280" y="2103120"/>
            <a:ext cx="2560320" cy="14630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NL"/>
          </a:p>
        </p:txBody>
      </p:sp>
      <p:sp>
        <p:nvSpPr>
          <p:cNvPr id="11" name="Shape 8"/>
          <p:cNvSpPr/>
          <p:nvPr/>
        </p:nvSpPr>
        <p:spPr>
          <a:xfrm>
            <a:off x="3383280" y="2103120"/>
            <a:ext cx="2560320" cy="54864"/>
          </a:xfrm>
          <a:prstGeom prst="rect">
            <a:avLst/>
          </a:prstGeom>
          <a:solidFill>
            <a:srgbClr val="0D9488"/>
          </a:solidFill>
          <a:ln/>
        </p:spPr>
        <p:txBody>
          <a:bodyPr/>
          <a:lstStyle/>
          <a:p>
            <a:endParaRPr lang="en-NL"/>
          </a:p>
        </p:txBody>
      </p:sp>
      <p:pic>
        <p:nvPicPr>
          <p:cNvPr id="12" name="Image 1" descr="preencoded.png"/>
          <p:cNvPicPr>
            <a:picLocks noChangeAspect="1"/>
          </p:cNvPicPr>
          <p:nvPr/>
        </p:nvPicPr>
        <p:blipFill>
          <a:blip r:embed="rId4"/>
          <a:stretch>
            <a:fillRect/>
          </a:stretch>
        </p:blipFill>
        <p:spPr>
          <a:xfrm>
            <a:off x="3566160" y="2331720"/>
            <a:ext cx="320040" cy="320040"/>
          </a:xfrm>
          <a:prstGeom prst="rect">
            <a:avLst/>
          </a:prstGeom>
        </p:spPr>
      </p:pic>
      <p:sp>
        <p:nvSpPr>
          <p:cNvPr id="13" name="Text 9"/>
          <p:cNvSpPr/>
          <p:nvPr/>
        </p:nvSpPr>
        <p:spPr>
          <a:xfrm>
            <a:off x="3931920" y="2286000"/>
            <a:ext cx="1645920" cy="457200"/>
          </a:xfrm>
          <a:prstGeom prst="rect">
            <a:avLst/>
          </a:prstGeom>
          <a:noFill/>
          <a:ln/>
        </p:spPr>
        <p:txBody>
          <a:bodyPr wrap="square" lIns="0" tIns="0" rIns="0" bIns="0" rtlCol="0" anchor="ctr"/>
          <a:lstStyle/>
          <a:p>
            <a:pPr marL="0" indent="0">
              <a:buNone/>
            </a:pPr>
            <a:r>
              <a:rPr lang="en-US" sz="3600" b="1" dirty="0">
                <a:solidFill>
                  <a:srgbClr val="1E293B"/>
                </a:solidFill>
                <a:latin typeface="Trebuchet MS" pitchFamily="34" charset="0"/>
                <a:ea typeface="Trebuchet MS" pitchFamily="34" charset="-122"/>
                <a:cs typeface="Trebuchet MS" pitchFamily="34" charset="-120"/>
              </a:rPr>
              <a:t>2</a:t>
            </a:r>
            <a:endParaRPr lang="en-US" sz="3600" dirty="0"/>
          </a:p>
        </p:txBody>
      </p:sp>
      <p:sp>
        <p:nvSpPr>
          <p:cNvPr id="14" name="Text 10"/>
          <p:cNvSpPr/>
          <p:nvPr/>
        </p:nvSpPr>
        <p:spPr>
          <a:xfrm>
            <a:off x="3566160" y="2926080"/>
            <a:ext cx="219456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Weeks to Complete</a:t>
            </a:r>
            <a:endParaRPr lang="en-US" sz="1300" dirty="0"/>
          </a:p>
        </p:txBody>
      </p:sp>
      <p:sp>
        <p:nvSpPr>
          <p:cNvPr id="15" name="Shape 11"/>
          <p:cNvSpPr/>
          <p:nvPr/>
        </p:nvSpPr>
        <p:spPr>
          <a:xfrm>
            <a:off x="6217920" y="2103120"/>
            <a:ext cx="2560320" cy="14630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NL"/>
          </a:p>
        </p:txBody>
      </p:sp>
      <p:sp>
        <p:nvSpPr>
          <p:cNvPr id="16" name="Shape 12"/>
          <p:cNvSpPr/>
          <p:nvPr/>
        </p:nvSpPr>
        <p:spPr>
          <a:xfrm>
            <a:off x="6217920" y="2103120"/>
            <a:ext cx="2560320" cy="54864"/>
          </a:xfrm>
          <a:prstGeom prst="rect">
            <a:avLst/>
          </a:prstGeom>
          <a:solidFill>
            <a:srgbClr val="0D9488"/>
          </a:solidFill>
          <a:ln/>
        </p:spPr>
        <p:txBody>
          <a:bodyPr/>
          <a:lstStyle/>
          <a:p>
            <a:endParaRPr lang="en-NL"/>
          </a:p>
        </p:txBody>
      </p:sp>
      <p:pic>
        <p:nvPicPr>
          <p:cNvPr id="17" name="Image 2" descr="preencoded.png"/>
          <p:cNvPicPr>
            <a:picLocks noChangeAspect="1"/>
          </p:cNvPicPr>
          <p:nvPr/>
        </p:nvPicPr>
        <p:blipFill>
          <a:blip r:embed="rId5"/>
          <a:stretch>
            <a:fillRect/>
          </a:stretch>
        </p:blipFill>
        <p:spPr>
          <a:xfrm>
            <a:off x="6400800" y="2331720"/>
            <a:ext cx="320040" cy="320040"/>
          </a:xfrm>
          <a:prstGeom prst="rect">
            <a:avLst/>
          </a:prstGeom>
        </p:spPr>
      </p:pic>
      <p:sp>
        <p:nvSpPr>
          <p:cNvPr id="18" name="Text 13"/>
          <p:cNvSpPr/>
          <p:nvPr/>
        </p:nvSpPr>
        <p:spPr>
          <a:xfrm>
            <a:off x="6766560" y="2286000"/>
            <a:ext cx="1645920" cy="457200"/>
          </a:xfrm>
          <a:prstGeom prst="rect">
            <a:avLst/>
          </a:prstGeom>
          <a:noFill/>
          <a:ln/>
        </p:spPr>
        <p:txBody>
          <a:bodyPr wrap="square" lIns="0" tIns="0" rIns="0" bIns="0" rtlCol="0" anchor="ctr"/>
          <a:lstStyle/>
          <a:p>
            <a:pPr marL="0" indent="0">
              <a:buNone/>
            </a:pPr>
            <a:r>
              <a:rPr lang="en-US" sz="3600" b="1" dirty="0">
                <a:solidFill>
                  <a:srgbClr val="1E293B"/>
                </a:solidFill>
                <a:latin typeface="Trebuchet MS" pitchFamily="34" charset="0"/>
                <a:ea typeface="Trebuchet MS" pitchFamily="34" charset="-122"/>
                <a:cs typeface="Trebuchet MS" pitchFamily="34" charset="-120"/>
              </a:rPr>
              <a:t>1</a:t>
            </a:r>
            <a:endParaRPr lang="en-US" sz="3600" dirty="0"/>
          </a:p>
        </p:txBody>
      </p:sp>
      <p:sp>
        <p:nvSpPr>
          <p:cNvPr id="19" name="Text 14"/>
          <p:cNvSpPr/>
          <p:nvPr/>
        </p:nvSpPr>
        <p:spPr>
          <a:xfrm>
            <a:off x="6400800" y="2926080"/>
            <a:ext cx="219456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Reflection Day</a:t>
            </a:r>
            <a:endParaRPr lang="en-US" sz="1300" dirty="0"/>
          </a:p>
        </p:txBody>
      </p:sp>
      <p:sp>
        <p:nvSpPr>
          <p:cNvPr id="20" name="Text 15"/>
          <p:cNvSpPr/>
          <p:nvPr/>
        </p:nvSpPr>
        <p:spPr>
          <a:xfrm>
            <a:off x="548640" y="3840480"/>
            <a:ext cx="3657600" cy="320040"/>
          </a:xfrm>
          <a:prstGeom prst="rect">
            <a:avLst/>
          </a:prstGeom>
          <a:noFill/>
          <a:ln/>
        </p:spPr>
        <p:txBody>
          <a:bodyPr wrap="square" lIns="0" tIns="0" rIns="0" bIns="0" rtlCol="0" anchor="ctr"/>
          <a:lstStyle/>
          <a:p>
            <a:pPr marL="0" indent="0">
              <a:buNone/>
            </a:pPr>
            <a:r>
              <a:rPr lang="en-US" sz="1200" b="1" kern="0" spc="300" dirty="0">
                <a:solidFill>
                  <a:srgbClr val="0D9488"/>
                </a:solidFill>
                <a:latin typeface="Trebuchet MS" pitchFamily="34" charset="0"/>
                <a:ea typeface="Trebuchet MS" pitchFamily="34" charset="-122"/>
                <a:cs typeface="Trebuchet MS" pitchFamily="34" charset="-120"/>
              </a:rPr>
              <a:t>HOW IT WORKS</a:t>
            </a:r>
            <a:endParaRPr lang="en-US" sz="1200" dirty="0"/>
          </a:p>
        </p:txBody>
      </p:sp>
      <p:sp>
        <p:nvSpPr>
          <p:cNvPr id="21" name="Text 16"/>
          <p:cNvSpPr/>
          <p:nvPr/>
        </p:nvSpPr>
        <p:spPr>
          <a:xfrm>
            <a:off x="548640" y="4160520"/>
            <a:ext cx="8046720" cy="731520"/>
          </a:xfrm>
          <a:prstGeom prst="rect">
            <a:avLst/>
          </a:prstGeom>
          <a:noFill/>
          <a:ln/>
        </p:spPr>
        <p:txBody>
          <a:bodyPr wrap="square" lIns="0" tIns="0" rIns="0" bIns="0" rtlCol="0" anchor="ctr"/>
          <a:lstStyle/>
          <a:p>
            <a:pPr marL="0" indent="0">
              <a:lnSpc>
                <a:spcPct val="140000"/>
              </a:lnSpc>
              <a:buNone/>
            </a:pPr>
            <a:r>
              <a:rPr lang="en-US" sz="1200" dirty="0">
                <a:solidFill>
                  <a:srgbClr val="64748B"/>
                </a:solidFill>
                <a:latin typeface="Calibri" pitchFamily="34" charset="0"/>
                <a:ea typeface="Calibri" pitchFamily="34" charset="-122"/>
                <a:cs typeface="Calibri" pitchFamily="34" charset="-120"/>
              </a:rPr>
              <a:t>Assign one exercise per workday. Each comes with an Excel workbook, prompts, and sample data. On Day 10, teams reflect on which tools deliver the most value for their specific workflows.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NL"/>
          </a:p>
        </p:txBody>
      </p:sp>
      <p:sp>
        <p:nvSpPr>
          <p:cNvPr id="3" name="Text 1"/>
          <p:cNvSpPr/>
          <p:nvPr/>
        </p:nvSpPr>
        <p:spPr>
          <a:xfrm>
            <a:off x="548640" y="274320"/>
            <a:ext cx="731520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TECHNOLOGIES TO EXPLORE</a:t>
            </a:r>
            <a:endParaRPr lang="en-US" sz="26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Each exercise maps to one of these Microsoft AI capabilities in Excel</a:t>
            </a:r>
            <a:endParaRPr lang="en-US" sz="1300" dirty="0"/>
          </a:p>
        </p:txBody>
      </p:sp>
      <p:sp>
        <p:nvSpPr>
          <p:cNvPr id="5" name="Shape 3"/>
          <p:cNvSpPr/>
          <p:nvPr/>
        </p:nvSpPr>
        <p:spPr>
          <a:xfrm>
            <a:off x="548640" y="1325880"/>
            <a:ext cx="502920" cy="502920"/>
          </a:xfrm>
          <a:prstGeom prst="ellipse">
            <a:avLst/>
          </a:prstGeom>
          <a:solidFill>
            <a:srgbClr val="0D9488"/>
          </a:solidFill>
          <a:ln/>
        </p:spPr>
        <p:txBody>
          <a:bodyPr/>
          <a:lstStyle/>
          <a:p>
            <a:endParaRPr lang="en-NL"/>
          </a:p>
        </p:txBody>
      </p:sp>
      <p:pic>
        <p:nvPicPr>
          <p:cNvPr id="6" name="Image 0" descr="preencoded.png"/>
          <p:cNvPicPr>
            <a:picLocks noChangeAspect="1"/>
          </p:cNvPicPr>
          <p:nvPr/>
        </p:nvPicPr>
        <p:blipFill>
          <a:blip r:embed="rId3"/>
          <a:stretch>
            <a:fillRect/>
          </a:stretch>
        </p:blipFill>
        <p:spPr>
          <a:xfrm>
            <a:off x="658368" y="1435608"/>
            <a:ext cx="274320" cy="274320"/>
          </a:xfrm>
          <a:prstGeom prst="rect">
            <a:avLst/>
          </a:prstGeom>
        </p:spPr>
      </p:pic>
      <p:sp>
        <p:nvSpPr>
          <p:cNvPr id="7" name="Text 4"/>
          <p:cNvSpPr/>
          <p:nvPr/>
        </p:nvSpPr>
        <p:spPr>
          <a:xfrm>
            <a:off x="1234440" y="1280160"/>
            <a:ext cx="4114800" cy="32004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Copilot Agent Mode</a:t>
            </a:r>
            <a:endParaRPr lang="en-US" sz="1500" dirty="0"/>
          </a:p>
        </p:txBody>
      </p:sp>
      <p:sp>
        <p:nvSpPr>
          <p:cNvPr id="8" name="Text 5"/>
          <p:cNvSpPr/>
          <p:nvPr/>
        </p:nvSpPr>
        <p:spPr>
          <a:xfrm>
            <a:off x="1234440" y="1572768"/>
            <a:ext cx="5029200" cy="32004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AI that "speaks Excel" — generates, evaluates, and iterates on complex workbooks autonomously.</a:t>
            </a:r>
            <a:endParaRPr lang="en-US" sz="1100" dirty="0"/>
          </a:p>
        </p:txBody>
      </p:sp>
      <p:sp>
        <p:nvSpPr>
          <p:cNvPr id="11" name="Shape 8"/>
          <p:cNvSpPr/>
          <p:nvPr/>
        </p:nvSpPr>
        <p:spPr>
          <a:xfrm>
            <a:off x="548640" y="2039112"/>
            <a:ext cx="502920" cy="502920"/>
          </a:xfrm>
          <a:prstGeom prst="ellipse">
            <a:avLst/>
          </a:prstGeom>
          <a:solidFill>
            <a:srgbClr val="0D9488"/>
          </a:solidFill>
          <a:ln/>
        </p:spPr>
        <p:txBody>
          <a:bodyPr/>
          <a:lstStyle/>
          <a:p>
            <a:endParaRPr lang="en-NL"/>
          </a:p>
        </p:txBody>
      </p:sp>
      <p:pic>
        <p:nvPicPr>
          <p:cNvPr id="12" name="Image 1" descr="preencoded.png"/>
          <p:cNvPicPr>
            <a:picLocks noChangeAspect="1"/>
          </p:cNvPicPr>
          <p:nvPr/>
        </p:nvPicPr>
        <p:blipFill>
          <a:blip r:embed="rId4"/>
          <a:stretch>
            <a:fillRect/>
          </a:stretch>
        </p:blipFill>
        <p:spPr>
          <a:xfrm>
            <a:off x="658368" y="2148840"/>
            <a:ext cx="274320" cy="274320"/>
          </a:xfrm>
          <a:prstGeom prst="rect">
            <a:avLst/>
          </a:prstGeom>
        </p:spPr>
      </p:pic>
      <p:sp>
        <p:nvSpPr>
          <p:cNvPr id="13" name="Text 9"/>
          <p:cNvSpPr/>
          <p:nvPr/>
        </p:nvSpPr>
        <p:spPr>
          <a:xfrm>
            <a:off x="1234440" y="1993392"/>
            <a:ext cx="4114800" cy="32004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=COPILOT() Formula</a:t>
            </a:r>
            <a:endParaRPr lang="en-US" sz="1500" dirty="0"/>
          </a:p>
        </p:txBody>
      </p:sp>
      <p:sp>
        <p:nvSpPr>
          <p:cNvPr id="14" name="Text 10"/>
          <p:cNvSpPr/>
          <p:nvPr/>
        </p:nvSpPr>
        <p:spPr>
          <a:xfrm>
            <a:off x="1234440" y="2286000"/>
            <a:ext cx="5029200" cy="32004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In-cell AI function that turns data ranges into variance commentary, forecasts, and executive summaries.</a:t>
            </a:r>
            <a:endParaRPr lang="en-US" sz="1100" dirty="0"/>
          </a:p>
        </p:txBody>
      </p:sp>
      <p:sp>
        <p:nvSpPr>
          <p:cNvPr id="17" name="Shape 13"/>
          <p:cNvSpPr/>
          <p:nvPr/>
        </p:nvSpPr>
        <p:spPr>
          <a:xfrm>
            <a:off x="548640" y="2752344"/>
            <a:ext cx="502920" cy="502920"/>
          </a:xfrm>
          <a:prstGeom prst="ellipse">
            <a:avLst/>
          </a:prstGeom>
          <a:solidFill>
            <a:srgbClr val="0D9488"/>
          </a:solidFill>
          <a:ln/>
        </p:spPr>
        <p:txBody>
          <a:bodyPr/>
          <a:lstStyle/>
          <a:p>
            <a:endParaRPr lang="en-NL"/>
          </a:p>
        </p:txBody>
      </p:sp>
      <p:pic>
        <p:nvPicPr>
          <p:cNvPr id="18" name="Image 2" descr="preencoded.png"/>
          <p:cNvPicPr>
            <a:picLocks noChangeAspect="1"/>
          </p:cNvPicPr>
          <p:nvPr/>
        </p:nvPicPr>
        <p:blipFill>
          <a:blip r:embed="rId5"/>
          <a:stretch>
            <a:fillRect/>
          </a:stretch>
        </p:blipFill>
        <p:spPr>
          <a:xfrm>
            <a:off x="658368" y="2862072"/>
            <a:ext cx="274320" cy="274320"/>
          </a:xfrm>
          <a:prstGeom prst="rect">
            <a:avLst/>
          </a:prstGeom>
        </p:spPr>
      </p:pic>
      <p:sp>
        <p:nvSpPr>
          <p:cNvPr id="19" name="Text 14"/>
          <p:cNvSpPr/>
          <p:nvPr/>
        </p:nvSpPr>
        <p:spPr>
          <a:xfrm>
            <a:off x="1234440" y="2706624"/>
            <a:ext cx="4114800" cy="32004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Python in Excel</a:t>
            </a:r>
            <a:endParaRPr lang="en-US" sz="1500" dirty="0"/>
          </a:p>
        </p:txBody>
      </p:sp>
      <p:sp>
        <p:nvSpPr>
          <p:cNvPr id="20" name="Text 15"/>
          <p:cNvSpPr/>
          <p:nvPr/>
        </p:nvSpPr>
        <p:spPr>
          <a:xfrm>
            <a:off x="1234440" y="2999232"/>
            <a:ext cx="5029200" cy="32004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Run Python (pandas, matplotlib) natively inside Excel cells — no local install needed.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NL"/>
          </a:p>
        </p:txBody>
      </p:sp>
      <p:sp>
        <p:nvSpPr>
          <p:cNvPr id="3" name="Text 1"/>
          <p:cNvSpPr/>
          <p:nvPr/>
        </p:nvSpPr>
        <p:spPr>
          <a:xfrm>
            <a:off x="548640" y="274320"/>
            <a:ext cx="7315200" cy="45720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2-WEEK SCHEDULE</a:t>
            </a:r>
            <a:endParaRPr lang="en-US" sz="2600" dirty="0"/>
          </a:p>
        </p:txBody>
      </p:sp>
      <p:sp>
        <p:nvSpPr>
          <p:cNvPr id="4" name="Shape 2"/>
          <p:cNvSpPr/>
          <p:nvPr/>
        </p:nvSpPr>
        <p:spPr>
          <a:xfrm>
            <a:off x="548640" y="960120"/>
            <a:ext cx="8046720" cy="320040"/>
          </a:xfrm>
          <a:prstGeom prst="rect">
            <a:avLst/>
          </a:prstGeom>
          <a:solidFill>
            <a:srgbClr val="0D9488"/>
          </a:solidFill>
          <a:ln/>
        </p:spPr>
        <p:txBody>
          <a:bodyPr/>
          <a:lstStyle/>
          <a:p>
            <a:endParaRPr lang="en-NL"/>
          </a:p>
        </p:txBody>
      </p:sp>
      <p:sp>
        <p:nvSpPr>
          <p:cNvPr id="5" name="Text 3"/>
          <p:cNvSpPr/>
          <p:nvPr/>
        </p:nvSpPr>
        <p:spPr>
          <a:xfrm>
            <a:off x="731520" y="960120"/>
            <a:ext cx="7315200" cy="320040"/>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WEEK 1 — COPILOT &amp; FORMULAS</a:t>
            </a:r>
            <a:endParaRPr lang="en-US" sz="1200" dirty="0"/>
          </a:p>
        </p:txBody>
      </p:sp>
      <p:sp>
        <p:nvSpPr>
          <p:cNvPr id="6" name="Shape 4"/>
          <p:cNvSpPr/>
          <p:nvPr/>
        </p:nvSpPr>
        <p:spPr>
          <a:xfrm>
            <a:off x="548640" y="1371600"/>
            <a:ext cx="1536192"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n-NL"/>
          </a:p>
        </p:txBody>
      </p:sp>
      <p:sp>
        <p:nvSpPr>
          <p:cNvPr id="7" name="Text 5"/>
          <p:cNvSpPr/>
          <p:nvPr/>
        </p:nvSpPr>
        <p:spPr>
          <a:xfrm>
            <a:off x="548640" y="1417320"/>
            <a:ext cx="1536192" cy="274320"/>
          </a:xfrm>
          <a:prstGeom prst="rect">
            <a:avLst/>
          </a:prstGeom>
          <a:noFill/>
          <a:ln/>
        </p:spPr>
        <p:txBody>
          <a:bodyPr wrap="square" lIns="0" tIns="0" rIns="0" bIns="0" rtlCol="0" anchor="ctr"/>
          <a:lstStyle/>
          <a:p>
            <a:pPr marL="0" indent="0" algn="ctr">
              <a:buNone/>
            </a:pPr>
            <a:r>
              <a:rPr lang="en-US" sz="1100" b="1" dirty="0">
                <a:solidFill>
                  <a:srgbClr val="0D9488"/>
                </a:solidFill>
                <a:latin typeface="Trebuchet MS" pitchFamily="34" charset="0"/>
                <a:ea typeface="Trebuchet MS" pitchFamily="34" charset="-122"/>
                <a:cs typeface="Trebuchet MS" pitchFamily="34" charset="-120"/>
              </a:rPr>
              <a:t>Day 1</a:t>
            </a:r>
            <a:endParaRPr lang="en-US" sz="1100" dirty="0"/>
          </a:p>
        </p:txBody>
      </p:sp>
      <p:sp>
        <p:nvSpPr>
          <p:cNvPr id="8" name="Text 6"/>
          <p:cNvSpPr/>
          <p:nvPr/>
        </p:nvSpPr>
        <p:spPr>
          <a:xfrm>
            <a:off x="621792" y="1691640"/>
            <a:ext cx="1389888" cy="411480"/>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Agent Mode: Financial Close</a:t>
            </a:r>
            <a:endParaRPr lang="en-US" sz="1000" dirty="0"/>
          </a:p>
        </p:txBody>
      </p:sp>
      <p:sp>
        <p:nvSpPr>
          <p:cNvPr id="9" name="Text 7"/>
          <p:cNvSpPr/>
          <p:nvPr/>
        </p:nvSpPr>
        <p:spPr>
          <a:xfrm>
            <a:off x="621792" y="2103120"/>
            <a:ext cx="1389888" cy="18288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Agent Mode</a:t>
            </a:r>
            <a:endParaRPr lang="en-US" sz="800" dirty="0"/>
          </a:p>
        </p:txBody>
      </p:sp>
      <p:sp>
        <p:nvSpPr>
          <p:cNvPr id="10" name="Shape 8"/>
          <p:cNvSpPr/>
          <p:nvPr/>
        </p:nvSpPr>
        <p:spPr>
          <a:xfrm>
            <a:off x="2176272" y="1371600"/>
            <a:ext cx="1536192"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n-NL"/>
          </a:p>
        </p:txBody>
      </p:sp>
      <p:sp>
        <p:nvSpPr>
          <p:cNvPr id="11" name="Text 9"/>
          <p:cNvSpPr/>
          <p:nvPr/>
        </p:nvSpPr>
        <p:spPr>
          <a:xfrm>
            <a:off x="2176272" y="1417320"/>
            <a:ext cx="1536192" cy="274320"/>
          </a:xfrm>
          <a:prstGeom prst="rect">
            <a:avLst/>
          </a:prstGeom>
          <a:noFill/>
          <a:ln/>
        </p:spPr>
        <p:txBody>
          <a:bodyPr wrap="square" lIns="0" tIns="0" rIns="0" bIns="0" rtlCol="0" anchor="ctr"/>
          <a:lstStyle/>
          <a:p>
            <a:pPr marL="0" indent="0" algn="ctr">
              <a:buNone/>
            </a:pPr>
            <a:r>
              <a:rPr lang="en-US" sz="1100" b="1" dirty="0">
                <a:solidFill>
                  <a:srgbClr val="0D9488"/>
                </a:solidFill>
                <a:latin typeface="Trebuchet MS" pitchFamily="34" charset="0"/>
                <a:ea typeface="Trebuchet MS" pitchFamily="34" charset="-122"/>
                <a:cs typeface="Trebuchet MS" pitchFamily="34" charset="-120"/>
              </a:rPr>
              <a:t>Day 2</a:t>
            </a:r>
            <a:endParaRPr lang="en-US" sz="1100" dirty="0"/>
          </a:p>
        </p:txBody>
      </p:sp>
      <p:sp>
        <p:nvSpPr>
          <p:cNvPr id="12" name="Text 10"/>
          <p:cNvSpPr/>
          <p:nvPr/>
        </p:nvSpPr>
        <p:spPr>
          <a:xfrm>
            <a:off x="2249424" y="1691640"/>
            <a:ext cx="1389888" cy="411480"/>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Agent Mode: Loan Calculator</a:t>
            </a:r>
            <a:endParaRPr lang="en-US" sz="1000" dirty="0"/>
          </a:p>
        </p:txBody>
      </p:sp>
      <p:sp>
        <p:nvSpPr>
          <p:cNvPr id="13" name="Text 11"/>
          <p:cNvSpPr/>
          <p:nvPr/>
        </p:nvSpPr>
        <p:spPr>
          <a:xfrm>
            <a:off x="2249424" y="2103120"/>
            <a:ext cx="1389888" cy="18288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Agent Mode</a:t>
            </a:r>
            <a:endParaRPr lang="en-US" sz="800" dirty="0"/>
          </a:p>
        </p:txBody>
      </p:sp>
      <p:sp>
        <p:nvSpPr>
          <p:cNvPr id="14" name="Shape 12"/>
          <p:cNvSpPr/>
          <p:nvPr/>
        </p:nvSpPr>
        <p:spPr>
          <a:xfrm>
            <a:off x="3803904" y="1371600"/>
            <a:ext cx="1536192"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n-NL"/>
          </a:p>
        </p:txBody>
      </p:sp>
      <p:sp>
        <p:nvSpPr>
          <p:cNvPr id="15" name="Text 13"/>
          <p:cNvSpPr/>
          <p:nvPr/>
        </p:nvSpPr>
        <p:spPr>
          <a:xfrm>
            <a:off x="3803904" y="1417320"/>
            <a:ext cx="1536192" cy="274320"/>
          </a:xfrm>
          <a:prstGeom prst="rect">
            <a:avLst/>
          </a:prstGeom>
          <a:noFill/>
          <a:ln/>
        </p:spPr>
        <p:txBody>
          <a:bodyPr wrap="square" lIns="0" tIns="0" rIns="0" bIns="0" rtlCol="0" anchor="ctr"/>
          <a:lstStyle/>
          <a:p>
            <a:pPr marL="0" indent="0" algn="ctr">
              <a:buNone/>
            </a:pPr>
            <a:r>
              <a:rPr lang="en-US" sz="1100" b="1" dirty="0">
                <a:solidFill>
                  <a:srgbClr val="0D9488"/>
                </a:solidFill>
                <a:latin typeface="Trebuchet MS" pitchFamily="34" charset="0"/>
                <a:ea typeface="Trebuchet MS" pitchFamily="34" charset="-122"/>
                <a:cs typeface="Trebuchet MS" pitchFamily="34" charset="-120"/>
              </a:rPr>
              <a:t>Day 3</a:t>
            </a:r>
            <a:endParaRPr lang="en-US" sz="1100" dirty="0"/>
          </a:p>
        </p:txBody>
      </p:sp>
      <p:sp>
        <p:nvSpPr>
          <p:cNvPr id="16" name="Text 14"/>
          <p:cNvSpPr/>
          <p:nvPr/>
        </p:nvSpPr>
        <p:spPr>
          <a:xfrm>
            <a:off x="3877056" y="1691640"/>
            <a:ext cx="1389888" cy="411480"/>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Agent Mode: Budget Tracker</a:t>
            </a:r>
            <a:endParaRPr lang="en-US" sz="1000" dirty="0"/>
          </a:p>
        </p:txBody>
      </p:sp>
      <p:sp>
        <p:nvSpPr>
          <p:cNvPr id="17" name="Text 15"/>
          <p:cNvSpPr/>
          <p:nvPr/>
        </p:nvSpPr>
        <p:spPr>
          <a:xfrm>
            <a:off x="3877056" y="2103120"/>
            <a:ext cx="1389888" cy="18288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Agent Mode</a:t>
            </a:r>
            <a:endParaRPr lang="en-US" sz="800" dirty="0"/>
          </a:p>
        </p:txBody>
      </p:sp>
      <p:sp>
        <p:nvSpPr>
          <p:cNvPr id="18" name="Shape 16"/>
          <p:cNvSpPr/>
          <p:nvPr/>
        </p:nvSpPr>
        <p:spPr>
          <a:xfrm>
            <a:off x="5431536" y="1371600"/>
            <a:ext cx="1536192"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n-NL"/>
          </a:p>
        </p:txBody>
      </p:sp>
      <p:sp>
        <p:nvSpPr>
          <p:cNvPr id="19" name="Text 17"/>
          <p:cNvSpPr/>
          <p:nvPr/>
        </p:nvSpPr>
        <p:spPr>
          <a:xfrm>
            <a:off x="5431536" y="1417320"/>
            <a:ext cx="1536192" cy="274320"/>
          </a:xfrm>
          <a:prstGeom prst="rect">
            <a:avLst/>
          </a:prstGeom>
          <a:noFill/>
          <a:ln/>
        </p:spPr>
        <p:txBody>
          <a:bodyPr wrap="square" lIns="0" tIns="0" rIns="0" bIns="0" rtlCol="0" anchor="ctr"/>
          <a:lstStyle/>
          <a:p>
            <a:pPr marL="0" indent="0" algn="ctr">
              <a:buNone/>
            </a:pPr>
            <a:r>
              <a:rPr lang="en-US" sz="1100" b="1" dirty="0">
                <a:solidFill>
                  <a:srgbClr val="0D9488"/>
                </a:solidFill>
                <a:latin typeface="Trebuchet MS" pitchFamily="34" charset="0"/>
                <a:ea typeface="Trebuchet MS" pitchFamily="34" charset="-122"/>
                <a:cs typeface="Trebuchet MS" pitchFamily="34" charset="-120"/>
              </a:rPr>
              <a:t>Day 4</a:t>
            </a:r>
            <a:endParaRPr lang="en-US" sz="1100" dirty="0"/>
          </a:p>
        </p:txBody>
      </p:sp>
      <p:sp>
        <p:nvSpPr>
          <p:cNvPr id="20" name="Text 18"/>
          <p:cNvSpPr/>
          <p:nvPr/>
        </p:nvSpPr>
        <p:spPr>
          <a:xfrm>
            <a:off x="5504688" y="1691640"/>
            <a:ext cx="1389888" cy="411480"/>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=COPILOT(): Variance &amp; Trends</a:t>
            </a:r>
            <a:endParaRPr lang="en-US" sz="1000" dirty="0"/>
          </a:p>
        </p:txBody>
      </p:sp>
      <p:sp>
        <p:nvSpPr>
          <p:cNvPr id="21" name="Text 19"/>
          <p:cNvSpPr/>
          <p:nvPr/>
        </p:nvSpPr>
        <p:spPr>
          <a:xfrm>
            <a:off x="5504688" y="2103120"/>
            <a:ext cx="1389888" cy="18288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=COPILOT()</a:t>
            </a:r>
            <a:endParaRPr lang="en-US" sz="800" dirty="0"/>
          </a:p>
        </p:txBody>
      </p:sp>
      <p:sp>
        <p:nvSpPr>
          <p:cNvPr id="22" name="Shape 20"/>
          <p:cNvSpPr/>
          <p:nvPr/>
        </p:nvSpPr>
        <p:spPr>
          <a:xfrm>
            <a:off x="7059168" y="1371600"/>
            <a:ext cx="1536192"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n-NL"/>
          </a:p>
        </p:txBody>
      </p:sp>
      <p:sp>
        <p:nvSpPr>
          <p:cNvPr id="23" name="Text 21"/>
          <p:cNvSpPr/>
          <p:nvPr/>
        </p:nvSpPr>
        <p:spPr>
          <a:xfrm>
            <a:off x="7059168" y="1417320"/>
            <a:ext cx="1536192" cy="274320"/>
          </a:xfrm>
          <a:prstGeom prst="rect">
            <a:avLst/>
          </a:prstGeom>
          <a:noFill/>
          <a:ln/>
        </p:spPr>
        <p:txBody>
          <a:bodyPr wrap="square" lIns="0" tIns="0" rIns="0" bIns="0" rtlCol="0" anchor="ctr"/>
          <a:lstStyle/>
          <a:p>
            <a:pPr marL="0" indent="0" algn="ctr">
              <a:buNone/>
            </a:pPr>
            <a:r>
              <a:rPr lang="en-US" sz="1100" b="1" dirty="0">
                <a:solidFill>
                  <a:srgbClr val="0D9488"/>
                </a:solidFill>
                <a:latin typeface="Trebuchet MS" pitchFamily="34" charset="0"/>
                <a:ea typeface="Trebuchet MS" pitchFamily="34" charset="-122"/>
                <a:cs typeface="Trebuchet MS" pitchFamily="34" charset="-120"/>
              </a:rPr>
              <a:t>Day 5</a:t>
            </a:r>
            <a:endParaRPr lang="en-US" sz="1100" dirty="0"/>
          </a:p>
        </p:txBody>
      </p:sp>
      <p:sp>
        <p:nvSpPr>
          <p:cNvPr id="24" name="Text 22"/>
          <p:cNvSpPr/>
          <p:nvPr/>
        </p:nvSpPr>
        <p:spPr>
          <a:xfrm>
            <a:off x="7132320" y="1691640"/>
            <a:ext cx="1389888" cy="411480"/>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=COPILOT(): Scenarios &amp; Summaries</a:t>
            </a:r>
            <a:endParaRPr lang="en-US" sz="1000" dirty="0"/>
          </a:p>
        </p:txBody>
      </p:sp>
      <p:sp>
        <p:nvSpPr>
          <p:cNvPr id="25" name="Text 23"/>
          <p:cNvSpPr/>
          <p:nvPr/>
        </p:nvSpPr>
        <p:spPr>
          <a:xfrm>
            <a:off x="7132320" y="2103120"/>
            <a:ext cx="1389888" cy="18288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=COPILOT()</a:t>
            </a:r>
            <a:endParaRPr lang="en-US" sz="800" dirty="0"/>
          </a:p>
        </p:txBody>
      </p:sp>
      <p:sp>
        <p:nvSpPr>
          <p:cNvPr id="26" name="Shape 24"/>
          <p:cNvSpPr/>
          <p:nvPr/>
        </p:nvSpPr>
        <p:spPr>
          <a:xfrm>
            <a:off x="548640" y="2606040"/>
            <a:ext cx="8046720" cy="320040"/>
          </a:xfrm>
          <a:prstGeom prst="rect">
            <a:avLst/>
          </a:prstGeom>
          <a:solidFill>
            <a:srgbClr val="0E7490"/>
          </a:solidFill>
          <a:ln/>
        </p:spPr>
        <p:txBody>
          <a:bodyPr/>
          <a:lstStyle/>
          <a:p>
            <a:endParaRPr lang="en-NL"/>
          </a:p>
        </p:txBody>
      </p:sp>
      <p:sp>
        <p:nvSpPr>
          <p:cNvPr id="27" name="Text 25"/>
          <p:cNvSpPr/>
          <p:nvPr/>
        </p:nvSpPr>
        <p:spPr>
          <a:xfrm>
            <a:off x="731520" y="2606040"/>
            <a:ext cx="7315200" cy="320040"/>
          </a:xfrm>
          <a:prstGeom prst="rect">
            <a:avLst/>
          </a:prstGeom>
          <a:noFill/>
          <a:ln/>
        </p:spPr>
        <p:txBody>
          <a:bodyPr wrap="square"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WEEK 2 — PYTHON &amp; REFLECTION</a:t>
            </a:r>
            <a:endParaRPr lang="en-US" sz="1200" dirty="0"/>
          </a:p>
        </p:txBody>
      </p:sp>
      <p:sp>
        <p:nvSpPr>
          <p:cNvPr id="28" name="Shape 26"/>
          <p:cNvSpPr/>
          <p:nvPr/>
        </p:nvSpPr>
        <p:spPr>
          <a:xfrm>
            <a:off x="548640" y="3017520"/>
            <a:ext cx="1536192"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n-NL"/>
          </a:p>
        </p:txBody>
      </p:sp>
      <p:sp>
        <p:nvSpPr>
          <p:cNvPr id="29" name="Text 27"/>
          <p:cNvSpPr/>
          <p:nvPr/>
        </p:nvSpPr>
        <p:spPr>
          <a:xfrm>
            <a:off x="548640" y="3063240"/>
            <a:ext cx="1536192" cy="274320"/>
          </a:xfrm>
          <a:prstGeom prst="rect">
            <a:avLst/>
          </a:prstGeom>
          <a:noFill/>
          <a:ln/>
        </p:spPr>
        <p:txBody>
          <a:bodyPr wrap="square" lIns="0" tIns="0" rIns="0" bIns="0" rtlCol="0" anchor="ctr"/>
          <a:lstStyle/>
          <a:p>
            <a:pPr marL="0" indent="0" algn="ctr">
              <a:buNone/>
            </a:pPr>
            <a:r>
              <a:rPr lang="en-US" sz="1100" b="1" dirty="0">
                <a:solidFill>
                  <a:srgbClr val="0D9488"/>
                </a:solidFill>
                <a:latin typeface="Trebuchet MS" pitchFamily="34" charset="0"/>
                <a:ea typeface="Trebuchet MS" pitchFamily="34" charset="-122"/>
                <a:cs typeface="Trebuchet MS" pitchFamily="34" charset="-120"/>
              </a:rPr>
              <a:t>Day 6</a:t>
            </a:r>
            <a:endParaRPr lang="en-US" sz="1100" dirty="0"/>
          </a:p>
        </p:txBody>
      </p:sp>
      <p:sp>
        <p:nvSpPr>
          <p:cNvPr id="30" name="Text 28"/>
          <p:cNvSpPr/>
          <p:nvPr/>
        </p:nvSpPr>
        <p:spPr>
          <a:xfrm>
            <a:off x="621792" y="3337560"/>
            <a:ext cx="1389888" cy="411480"/>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Python in Excel: Unpivot Data</a:t>
            </a:r>
            <a:endParaRPr lang="en-US" sz="1000" dirty="0"/>
          </a:p>
        </p:txBody>
      </p:sp>
      <p:sp>
        <p:nvSpPr>
          <p:cNvPr id="31" name="Text 29"/>
          <p:cNvSpPr/>
          <p:nvPr/>
        </p:nvSpPr>
        <p:spPr>
          <a:xfrm>
            <a:off x="621792" y="3749040"/>
            <a:ext cx="1389888" cy="18288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Python in Excel</a:t>
            </a:r>
            <a:endParaRPr lang="en-US" sz="800" dirty="0"/>
          </a:p>
        </p:txBody>
      </p:sp>
      <p:sp>
        <p:nvSpPr>
          <p:cNvPr id="32" name="Shape 30"/>
          <p:cNvSpPr/>
          <p:nvPr/>
        </p:nvSpPr>
        <p:spPr>
          <a:xfrm>
            <a:off x="2176272" y="3017520"/>
            <a:ext cx="1536192"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n-NL"/>
          </a:p>
        </p:txBody>
      </p:sp>
      <p:sp>
        <p:nvSpPr>
          <p:cNvPr id="33" name="Text 31"/>
          <p:cNvSpPr/>
          <p:nvPr/>
        </p:nvSpPr>
        <p:spPr>
          <a:xfrm>
            <a:off x="2176272" y="3063240"/>
            <a:ext cx="1536192" cy="274320"/>
          </a:xfrm>
          <a:prstGeom prst="rect">
            <a:avLst/>
          </a:prstGeom>
          <a:noFill/>
          <a:ln/>
        </p:spPr>
        <p:txBody>
          <a:bodyPr wrap="square" lIns="0" tIns="0" rIns="0" bIns="0" rtlCol="0" anchor="ctr"/>
          <a:lstStyle/>
          <a:p>
            <a:pPr marL="0" indent="0" algn="ctr">
              <a:buNone/>
            </a:pPr>
            <a:r>
              <a:rPr lang="en-US" sz="1100" b="1" dirty="0">
                <a:solidFill>
                  <a:srgbClr val="0D9488"/>
                </a:solidFill>
                <a:latin typeface="Trebuchet MS" pitchFamily="34" charset="0"/>
                <a:ea typeface="Trebuchet MS" pitchFamily="34" charset="-122"/>
                <a:cs typeface="Trebuchet MS" pitchFamily="34" charset="-120"/>
              </a:rPr>
              <a:t>Day 7</a:t>
            </a:r>
            <a:endParaRPr lang="en-US" sz="1100" dirty="0"/>
          </a:p>
        </p:txBody>
      </p:sp>
      <p:sp>
        <p:nvSpPr>
          <p:cNvPr id="34" name="Text 32"/>
          <p:cNvSpPr/>
          <p:nvPr/>
        </p:nvSpPr>
        <p:spPr>
          <a:xfrm>
            <a:off x="2249424" y="3337560"/>
            <a:ext cx="1389888" cy="411480"/>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Python in Excel: HR Analytics</a:t>
            </a:r>
            <a:endParaRPr lang="en-US" sz="1000" dirty="0"/>
          </a:p>
        </p:txBody>
      </p:sp>
      <p:sp>
        <p:nvSpPr>
          <p:cNvPr id="35" name="Text 33"/>
          <p:cNvSpPr/>
          <p:nvPr/>
        </p:nvSpPr>
        <p:spPr>
          <a:xfrm>
            <a:off x="2249424" y="3749040"/>
            <a:ext cx="1389888" cy="18288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Python in Excel</a:t>
            </a:r>
            <a:endParaRPr lang="en-US" sz="800" dirty="0"/>
          </a:p>
        </p:txBody>
      </p:sp>
      <p:sp>
        <p:nvSpPr>
          <p:cNvPr id="36" name="Shape 34"/>
          <p:cNvSpPr/>
          <p:nvPr/>
        </p:nvSpPr>
        <p:spPr>
          <a:xfrm>
            <a:off x="3803904" y="3017520"/>
            <a:ext cx="1536192"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n-NL"/>
          </a:p>
        </p:txBody>
      </p:sp>
      <p:sp>
        <p:nvSpPr>
          <p:cNvPr id="37" name="Text 35"/>
          <p:cNvSpPr/>
          <p:nvPr/>
        </p:nvSpPr>
        <p:spPr>
          <a:xfrm>
            <a:off x="3803904" y="3063240"/>
            <a:ext cx="1536192" cy="274320"/>
          </a:xfrm>
          <a:prstGeom prst="rect">
            <a:avLst/>
          </a:prstGeom>
          <a:noFill/>
          <a:ln/>
        </p:spPr>
        <p:txBody>
          <a:bodyPr wrap="square" lIns="0" tIns="0" rIns="0" bIns="0" rtlCol="0" anchor="ctr"/>
          <a:lstStyle/>
          <a:p>
            <a:pPr marL="0" indent="0" algn="ctr">
              <a:buNone/>
            </a:pPr>
            <a:r>
              <a:rPr lang="en-US" sz="1100" b="1" dirty="0">
                <a:solidFill>
                  <a:srgbClr val="0D9488"/>
                </a:solidFill>
                <a:latin typeface="Trebuchet MS" pitchFamily="34" charset="0"/>
                <a:ea typeface="Trebuchet MS" pitchFamily="34" charset="-122"/>
                <a:cs typeface="Trebuchet MS" pitchFamily="34" charset="-120"/>
              </a:rPr>
              <a:t>Day 8</a:t>
            </a:r>
            <a:endParaRPr lang="en-US" sz="1100" dirty="0"/>
          </a:p>
        </p:txBody>
      </p:sp>
      <p:sp>
        <p:nvSpPr>
          <p:cNvPr id="38" name="Text 36"/>
          <p:cNvSpPr/>
          <p:nvPr/>
        </p:nvSpPr>
        <p:spPr>
          <a:xfrm>
            <a:off x="3877056" y="3337560"/>
            <a:ext cx="1389888" cy="411480"/>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Copilot + Python: SaaS &amp; Regression</a:t>
            </a:r>
            <a:endParaRPr lang="en-US" sz="1000" dirty="0"/>
          </a:p>
        </p:txBody>
      </p:sp>
      <p:sp>
        <p:nvSpPr>
          <p:cNvPr id="39" name="Text 37"/>
          <p:cNvSpPr/>
          <p:nvPr/>
        </p:nvSpPr>
        <p:spPr>
          <a:xfrm>
            <a:off x="3877056" y="3749040"/>
            <a:ext cx="1389888" cy="18288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Copilot + Python</a:t>
            </a:r>
            <a:endParaRPr lang="en-US" sz="800" dirty="0"/>
          </a:p>
        </p:txBody>
      </p:sp>
      <p:sp>
        <p:nvSpPr>
          <p:cNvPr id="40" name="Shape 38"/>
          <p:cNvSpPr/>
          <p:nvPr/>
        </p:nvSpPr>
        <p:spPr>
          <a:xfrm>
            <a:off x="5431536" y="3017520"/>
            <a:ext cx="1536192"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n-NL"/>
          </a:p>
        </p:txBody>
      </p:sp>
      <p:sp>
        <p:nvSpPr>
          <p:cNvPr id="41" name="Text 39"/>
          <p:cNvSpPr/>
          <p:nvPr/>
        </p:nvSpPr>
        <p:spPr>
          <a:xfrm>
            <a:off x="5431536" y="3063240"/>
            <a:ext cx="1536192" cy="274320"/>
          </a:xfrm>
          <a:prstGeom prst="rect">
            <a:avLst/>
          </a:prstGeom>
          <a:noFill/>
          <a:ln/>
        </p:spPr>
        <p:txBody>
          <a:bodyPr wrap="square" lIns="0" tIns="0" rIns="0" bIns="0" rtlCol="0" anchor="ctr"/>
          <a:lstStyle/>
          <a:p>
            <a:pPr marL="0" indent="0" algn="ctr">
              <a:buNone/>
            </a:pPr>
            <a:r>
              <a:rPr lang="en-US" sz="1100" b="1" dirty="0">
                <a:solidFill>
                  <a:srgbClr val="0D9488"/>
                </a:solidFill>
                <a:latin typeface="Trebuchet MS" pitchFamily="34" charset="0"/>
                <a:ea typeface="Trebuchet MS" pitchFamily="34" charset="-122"/>
                <a:cs typeface="Trebuchet MS" pitchFamily="34" charset="-120"/>
              </a:rPr>
              <a:t>Day 9</a:t>
            </a:r>
            <a:endParaRPr lang="en-US" sz="1100" dirty="0"/>
          </a:p>
        </p:txBody>
      </p:sp>
      <p:sp>
        <p:nvSpPr>
          <p:cNvPr id="42" name="Text 40"/>
          <p:cNvSpPr/>
          <p:nvPr/>
        </p:nvSpPr>
        <p:spPr>
          <a:xfrm>
            <a:off x="5504688" y="3337560"/>
            <a:ext cx="1389888" cy="411480"/>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ChatGPT + Python: Automation</a:t>
            </a:r>
            <a:endParaRPr lang="en-US" sz="1000" dirty="0"/>
          </a:p>
        </p:txBody>
      </p:sp>
      <p:sp>
        <p:nvSpPr>
          <p:cNvPr id="43" name="Text 41"/>
          <p:cNvSpPr/>
          <p:nvPr/>
        </p:nvSpPr>
        <p:spPr>
          <a:xfrm>
            <a:off x="5504688" y="3749040"/>
            <a:ext cx="1389888" cy="18288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ChatGPT + Python</a:t>
            </a:r>
            <a:endParaRPr lang="en-US" sz="800" dirty="0"/>
          </a:p>
        </p:txBody>
      </p:sp>
      <p:sp>
        <p:nvSpPr>
          <p:cNvPr id="44" name="Shape 42"/>
          <p:cNvSpPr/>
          <p:nvPr/>
        </p:nvSpPr>
        <p:spPr>
          <a:xfrm>
            <a:off x="7059168" y="3017520"/>
            <a:ext cx="1536192" cy="1005840"/>
          </a:xfrm>
          <a:prstGeom prst="rect">
            <a:avLst/>
          </a:prstGeom>
          <a:solidFill>
            <a:srgbClr val="0F1B2D"/>
          </a:solidFill>
          <a:ln/>
          <a:effectLst>
            <a:outerShdw blurRad="50800" dist="12700" dir="8100000" algn="bl" rotWithShape="0">
              <a:srgbClr val="000000">
                <a:alpha val="6000"/>
              </a:srgbClr>
            </a:outerShdw>
          </a:effectLst>
        </p:spPr>
        <p:txBody>
          <a:bodyPr/>
          <a:lstStyle/>
          <a:p>
            <a:endParaRPr lang="en-NL"/>
          </a:p>
        </p:txBody>
      </p:sp>
      <p:sp>
        <p:nvSpPr>
          <p:cNvPr id="45" name="Text 43"/>
          <p:cNvSpPr/>
          <p:nvPr/>
        </p:nvSpPr>
        <p:spPr>
          <a:xfrm>
            <a:off x="7059168" y="3063240"/>
            <a:ext cx="1536192" cy="274320"/>
          </a:xfrm>
          <a:prstGeom prst="rect">
            <a:avLst/>
          </a:prstGeom>
          <a:noFill/>
          <a:ln/>
        </p:spPr>
        <p:txBody>
          <a:bodyPr wrap="square" lIns="0" tIns="0" rIns="0" bIns="0" rtlCol="0" anchor="ctr"/>
          <a:lstStyle/>
          <a:p>
            <a:pPr marL="0" indent="0" algn="ctr">
              <a:buNone/>
            </a:pPr>
            <a:r>
              <a:rPr lang="en-US" sz="1100" b="1" dirty="0">
                <a:solidFill>
                  <a:srgbClr val="F59E0B"/>
                </a:solidFill>
                <a:latin typeface="Trebuchet MS" pitchFamily="34" charset="0"/>
                <a:ea typeface="Trebuchet MS" pitchFamily="34" charset="-122"/>
                <a:cs typeface="Trebuchet MS" pitchFamily="34" charset="-120"/>
              </a:rPr>
              <a:t>Day 10</a:t>
            </a:r>
            <a:endParaRPr lang="en-US" sz="1100" dirty="0"/>
          </a:p>
        </p:txBody>
      </p:sp>
      <p:sp>
        <p:nvSpPr>
          <p:cNvPr id="46" name="Text 44"/>
          <p:cNvSpPr/>
          <p:nvPr/>
        </p:nvSpPr>
        <p:spPr>
          <a:xfrm>
            <a:off x="7132320" y="3337560"/>
            <a:ext cx="1389888" cy="41148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REFLECTION DAY</a:t>
            </a:r>
            <a:endParaRPr lang="en-US" sz="1000" dirty="0"/>
          </a:p>
        </p:txBody>
      </p:sp>
      <p:sp>
        <p:nvSpPr>
          <p:cNvPr id="47" name="Text 45"/>
          <p:cNvSpPr/>
          <p:nvPr/>
        </p:nvSpPr>
        <p:spPr>
          <a:xfrm>
            <a:off x="7132320" y="3749040"/>
            <a:ext cx="1389888" cy="182880"/>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ea typeface="Calibri" pitchFamily="34" charset="-122"/>
                <a:cs typeface="Calibri" pitchFamily="34" charset="-120"/>
              </a:rPr>
              <a:t>Team Discussion</a:t>
            </a:r>
            <a:endParaRPr lang="en-US" sz="800" dirty="0"/>
          </a:p>
        </p:txBody>
      </p:sp>
      <p:sp>
        <p:nvSpPr>
          <p:cNvPr id="48" name="Text 46"/>
          <p:cNvSpPr/>
          <p:nvPr/>
        </p:nvSpPr>
        <p:spPr>
          <a:xfrm>
            <a:off x="548640" y="4297680"/>
            <a:ext cx="8046720" cy="4572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Each exercise includes a downloadable Excel workbook with sample data, prompts, and step-by-step instructions.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NL"/>
          </a:p>
        </p:txBody>
      </p:sp>
      <p:sp>
        <p:nvSpPr>
          <p:cNvPr id="3" name="Shape 1"/>
          <p:cNvSpPr/>
          <p:nvPr/>
        </p:nvSpPr>
        <p:spPr>
          <a:xfrm>
            <a:off x="548640" y="274320"/>
            <a:ext cx="914400" cy="347472"/>
          </a:xfrm>
          <a:prstGeom prst="rect">
            <a:avLst/>
          </a:prstGeom>
          <a:solidFill>
            <a:srgbClr val="0F1B2D"/>
          </a:solidFill>
          <a:ln/>
        </p:spPr>
        <p:txBody>
          <a:bodyPr/>
          <a:lstStyle/>
          <a:p>
            <a:endParaRPr lang="en-NL"/>
          </a:p>
        </p:txBody>
      </p:sp>
      <p:sp>
        <p:nvSpPr>
          <p:cNvPr id="4" name="Text 2"/>
          <p:cNvSpPr/>
          <p:nvPr/>
        </p:nvSpPr>
        <p:spPr>
          <a:xfrm>
            <a:off x="548640" y="274320"/>
            <a:ext cx="914400" cy="347472"/>
          </a:xfrm>
          <a:prstGeom prst="rect">
            <a:avLst/>
          </a:prstGeom>
          <a:noFill/>
          <a:ln/>
        </p:spPr>
        <p:txBody>
          <a:bodyPr wrap="square" rtlCol="0" anchor="ctr"/>
          <a:lstStyle/>
          <a:p>
            <a:pPr marL="0" indent="0" algn="ctr">
              <a:buNone/>
            </a:pPr>
            <a:r>
              <a:rPr lang="en-US" sz="1200" b="1" dirty="0">
                <a:solidFill>
                  <a:srgbClr val="0D9488"/>
                </a:solidFill>
                <a:latin typeface="Trebuchet MS" pitchFamily="34" charset="0"/>
                <a:ea typeface="Trebuchet MS" pitchFamily="34" charset="-122"/>
                <a:cs typeface="Trebuchet MS" pitchFamily="34" charset="-120"/>
              </a:rPr>
              <a:t>DAY 1</a:t>
            </a:r>
            <a:endParaRPr lang="en-US" sz="1200" dirty="0"/>
          </a:p>
        </p:txBody>
      </p:sp>
      <p:sp>
        <p:nvSpPr>
          <p:cNvPr id="5" name="Shape 3"/>
          <p:cNvSpPr/>
          <p:nvPr/>
        </p:nvSpPr>
        <p:spPr>
          <a:xfrm>
            <a:off x="1554480" y="274320"/>
            <a:ext cx="2011680" cy="347472"/>
          </a:xfrm>
          <a:prstGeom prst="rect">
            <a:avLst/>
          </a:prstGeom>
          <a:solidFill>
            <a:srgbClr val="E0F2FE"/>
          </a:solidFill>
          <a:ln/>
        </p:spPr>
        <p:txBody>
          <a:bodyPr/>
          <a:lstStyle/>
          <a:p>
            <a:endParaRPr lang="en-NL"/>
          </a:p>
        </p:txBody>
      </p:sp>
      <p:sp>
        <p:nvSpPr>
          <p:cNvPr id="6" name="Text 4"/>
          <p:cNvSpPr/>
          <p:nvPr/>
        </p:nvSpPr>
        <p:spPr>
          <a:xfrm>
            <a:off x="1554480" y="274320"/>
            <a:ext cx="2011680" cy="347472"/>
          </a:xfrm>
          <a:prstGeom prst="rect">
            <a:avLst/>
          </a:prstGeom>
          <a:noFill/>
          <a:ln/>
        </p:spPr>
        <p:txBody>
          <a:bodyPr wrap="square"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Copilot Agent Mode</a:t>
            </a:r>
            <a:endParaRPr lang="en-US" sz="1000" dirty="0"/>
          </a:p>
        </p:txBody>
      </p:sp>
      <p:sp>
        <p:nvSpPr>
          <p:cNvPr id="7" name="Text 5"/>
          <p:cNvSpPr/>
          <p:nvPr/>
        </p:nvSpPr>
        <p:spPr>
          <a:xfrm>
            <a:off x="548640" y="777240"/>
            <a:ext cx="8046720" cy="457200"/>
          </a:xfrm>
          <a:prstGeom prst="rect">
            <a:avLst/>
          </a:prstGeom>
          <a:noFill/>
          <a:ln/>
        </p:spPr>
        <p:txBody>
          <a:bodyPr wrap="square" lIns="0" tIns="0" rIns="0" bIns="0" rtlCol="0" anchor="ctr"/>
          <a:lstStyle/>
          <a:p>
            <a:pPr marL="0" indent="0">
              <a:buNone/>
            </a:pPr>
            <a:r>
              <a:rPr lang="en-US" sz="2200" b="1" dirty="0">
                <a:solidFill>
                  <a:srgbClr val="1E293B"/>
                </a:solidFill>
                <a:latin typeface="Trebuchet MS" pitchFamily="34" charset="0"/>
                <a:ea typeface="Trebuchet MS" pitchFamily="34" charset="-122"/>
                <a:cs typeface="Trebuchet MS" pitchFamily="34" charset="-120"/>
              </a:rPr>
              <a:t>Agent Mode: Annual Financial Close Report</a:t>
            </a:r>
            <a:endParaRPr lang="en-US" sz="2200" dirty="0"/>
          </a:p>
        </p:txBody>
      </p:sp>
      <p:pic>
        <p:nvPicPr>
          <p:cNvPr id="8" name="Image 0" descr="preencoded.png"/>
          <p:cNvPicPr>
            <a:picLocks noChangeAspect="1"/>
          </p:cNvPicPr>
          <p:nvPr/>
        </p:nvPicPr>
        <p:blipFill>
          <a:blip r:embed="rId3"/>
          <a:stretch>
            <a:fillRect/>
          </a:stretch>
        </p:blipFill>
        <p:spPr>
          <a:xfrm>
            <a:off x="548640" y="1417320"/>
            <a:ext cx="274320" cy="274320"/>
          </a:xfrm>
          <a:prstGeom prst="rect">
            <a:avLst/>
          </a:prstGeom>
        </p:spPr>
      </p:pic>
      <p:sp>
        <p:nvSpPr>
          <p:cNvPr id="9" name="Text 6"/>
          <p:cNvSpPr/>
          <p:nvPr/>
        </p:nvSpPr>
        <p:spPr>
          <a:xfrm>
            <a:off x="914400" y="141732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WHAT YOU'LL DO</a:t>
            </a:r>
            <a:endParaRPr lang="en-US" sz="1000" dirty="0"/>
          </a:p>
        </p:txBody>
      </p:sp>
      <p:sp>
        <p:nvSpPr>
          <p:cNvPr id="10" name="Text 7"/>
          <p:cNvSpPr/>
          <p:nvPr/>
        </p:nvSpPr>
        <p:spPr>
          <a:xfrm>
            <a:off x="548640" y="1737360"/>
            <a:ext cx="4754880" cy="822960"/>
          </a:xfrm>
          <a:prstGeom prst="rect">
            <a:avLst/>
          </a:prstGeom>
          <a:noFill/>
          <a:ln/>
        </p:spPr>
        <p:txBody>
          <a:bodyPr wrap="square" lIns="0" tIns="0" rIns="0" bIns="0" rtlCol="0" anchor="ctr"/>
          <a:lstStyle/>
          <a:p>
            <a:pPr marL="0" indent="0">
              <a:lnSpc>
                <a:spcPct val="135000"/>
              </a:lnSpc>
              <a:buNone/>
            </a:pPr>
            <a:r>
              <a:rPr lang="en-US" sz="1100" dirty="0">
                <a:solidFill>
                  <a:srgbClr val="64748B"/>
                </a:solidFill>
                <a:latin typeface="Calibri" pitchFamily="34" charset="0"/>
                <a:ea typeface="Calibri" pitchFamily="34" charset="-122"/>
                <a:cs typeface="Calibri" pitchFamily="34" charset="-120"/>
              </a:rPr>
              <a:t>Use Agent Mode to build a complete annual financial close report for a bike shop, with product-line breakdowns, variance-to-budget (VTB), and year-over-year growth — all from a single prompt.</a:t>
            </a:r>
            <a:endParaRPr lang="en-US" sz="1100" dirty="0"/>
          </a:p>
        </p:txBody>
      </p:sp>
      <p:sp>
        <p:nvSpPr>
          <p:cNvPr id="11" name="Text 8"/>
          <p:cNvSpPr/>
          <p:nvPr/>
        </p:nvSpPr>
        <p:spPr>
          <a:xfrm>
            <a:off x="548640" y="2606040"/>
            <a:ext cx="2743200" cy="22860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PROMPT TO TRY</a:t>
            </a:r>
            <a:endParaRPr lang="en-US" sz="1000" dirty="0"/>
          </a:p>
        </p:txBody>
      </p:sp>
      <p:sp>
        <p:nvSpPr>
          <p:cNvPr id="12" name="Shape 9"/>
          <p:cNvSpPr/>
          <p:nvPr/>
        </p:nvSpPr>
        <p:spPr>
          <a:xfrm>
            <a:off x="548640" y="2880360"/>
            <a:ext cx="4754880" cy="1188720"/>
          </a:xfrm>
          <a:prstGeom prst="rect">
            <a:avLst/>
          </a:prstGeom>
          <a:solidFill>
            <a:srgbClr val="F1F5F9"/>
          </a:solidFill>
          <a:ln/>
        </p:spPr>
        <p:txBody>
          <a:bodyPr/>
          <a:lstStyle/>
          <a:p>
            <a:endParaRPr lang="en-NL"/>
          </a:p>
        </p:txBody>
      </p:sp>
      <p:sp>
        <p:nvSpPr>
          <p:cNvPr id="13" name="Shape 10"/>
          <p:cNvSpPr/>
          <p:nvPr/>
        </p:nvSpPr>
        <p:spPr>
          <a:xfrm>
            <a:off x="548640" y="2880360"/>
            <a:ext cx="54864" cy="1188720"/>
          </a:xfrm>
          <a:prstGeom prst="rect">
            <a:avLst/>
          </a:prstGeom>
          <a:solidFill>
            <a:srgbClr val="0D9488"/>
          </a:solidFill>
          <a:ln/>
        </p:spPr>
        <p:txBody>
          <a:bodyPr/>
          <a:lstStyle/>
          <a:p>
            <a:endParaRPr lang="en-NL"/>
          </a:p>
        </p:txBody>
      </p:sp>
      <p:sp>
        <p:nvSpPr>
          <p:cNvPr id="14" name="Text 11"/>
          <p:cNvSpPr/>
          <p:nvPr/>
        </p:nvSpPr>
        <p:spPr>
          <a:xfrm>
            <a:off x="731520" y="2926080"/>
            <a:ext cx="4434840" cy="1097280"/>
          </a:xfrm>
          <a:prstGeom prst="rect">
            <a:avLst/>
          </a:prstGeom>
          <a:noFill/>
          <a:ln/>
        </p:spPr>
        <p:txBody>
          <a:bodyPr wrap="square" lIns="0" tIns="0" rIns="0" bIns="0" rtlCol="0" anchor="ctr"/>
          <a:lstStyle/>
          <a:p>
            <a:pPr marL="0" indent="0">
              <a:lnSpc>
                <a:spcPct val="130000"/>
              </a:lnSpc>
              <a:buNone/>
            </a:pPr>
            <a:r>
              <a:rPr lang="en-US" sz="950" dirty="0">
                <a:solidFill>
                  <a:srgbClr val="1E293B"/>
                </a:solidFill>
                <a:latin typeface="Consolas" pitchFamily="34" charset="0"/>
                <a:ea typeface="Consolas" pitchFamily="34" charset="-122"/>
                <a:cs typeface="Consolas" pitchFamily="34" charset="-120"/>
              </a:rPr>
              <a:t>"Create an annual financial close report for a bike shop business, including a breakdown of product lines across variance to budget (VTB) and year-over-year growth. Use dummy data, standard financial formatting and best practices."</a:t>
            </a:r>
            <a:endParaRPr lang="en-US" sz="950" dirty="0"/>
          </a:p>
        </p:txBody>
      </p:sp>
      <p:sp>
        <p:nvSpPr>
          <p:cNvPr id="15" name="Shape 12"/>
          <p:cNvSpPr/>
          <p:nvPr/>
        </p:nvSpPr>
        <p:spPr>
          <a:xfrm>
            <a:off x="5669280" y="1417320"/>
            <a:ext cx="3108960" cy="2651760"/>
          </a:xfrm>
          <a:prstGeom prst="rect">
            <a:avLst/>
          </a:prstGeom>
          <a:solidFill>
            <a:srgbClr val="0F1B2D"/>
          </a:solidFill>
          <a:ln/>
        </p:spPr>
        <p:txBody>
          <a:bodyPr/>
          <a:lstStyle/>
          <a:p>
            <a:endParaRPr lang="en-NL"/>
          </a:p>
        </p:txBody>
      </p:sp>
      <p:sp>
        <p:nvSpPr>
          <p:cNvPr id="16" name="Text 13"/>
          <p:cNvSpPr/>
          <p:nvPr/>
        </p:nvSpPr>
        <p:spPr>
          <a:xfrm>
            <a:off x="5852160" y="155448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SKILLS YOU'LL BUILD</a:t>
            </a:r>
            <a:endParaRPr lang="en-US" sz="1000" dirty="0"/>
          </a:p>
        </p:txBody>
      </p:sp>
      <p:sp>
        <p:nvSpPr>
          <p:cNvPr id="17" name="Text 14"/>
          <p:cNvSpPr/>
          <p:nvPr/>
        </p:nvSpPr>
        <p:spPr>
          <a:xfrm>
            <a:off x="5852160" y="1874520"/>
            <a:ext cx="2743200" cy="1645920"/>
          </a:xfrm>
          <a:prstGeom prst="rect">
            <a:avLst/>
          </a:prstGeom>
          <a:noFill/>
          <a:ln/>
        </p:spPr>
        <p:txBody>
          <a:bodyPr wrap="square" rtlCol="0" anchor="ctr"/>
          <a:lstStyle/>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Prompt engineering for Agent Mode</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Financial statement structure</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Conditional formatting &amp; data bars</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Reviewing AI-generated outputs critically</a:t>
            </a:r>
            <a:endParaRPr lang="en-US" sz="1100" dirty="0"/>
          </a:p>
        </p:txBody>
      </p:sp>
      <p:sp>
        <p:nvSpPr>
          <p:cNvPr id="18" name="Shape 15"/>
          <p:cNvSpPr/>
          <p:nvPr/>
        </p:nvSpPr>
        <p:spPr>
          <a:xfrm>
            <a:off x="548640" y="4251960"/>
            <a:ext cx="8046720" cy="457200"/>
          </a:xfrm>
          <a:prstGeom prst="rect">
            <a:avLst/>
          </a:prstGeom>
          <a:solidFill>
            <a:srgbClr val="E0F2FE"/>
          </a:solidFill>
          <a:ln/>
        </p:spPr>
        <p:txBody>
          <a:bodyPr/>
          <a:lstStyle/>
          <a:p>
            <a:endParaRPr lang="en-NL"/>
          </a:p>
        </p:txBody>
      </p:sp>
      <p:pic>
        <p:nvPicPr>
          <p:cNvPr id="19" name="Image 1" descr="preencoded.png"/>
          <p:cNvPicPr>
            <a:picLocks noChangeAspect="1"/>
          </p:cNvPicPr>
          <p:nvPr/>
        </p:nvPicPr>
        <p:blipFill>
          <a:blip r:embed="rId4"/>
          <a:stretch>
            <a:fillRect/>
          </a:stretch>
        </p:blipFill>
        <p:spPr>
          <a:xfrm>
            <a:off x="685800" y="4315968"/>
            <a:ext cx="274320" cy="274320"/>
          </a:xfrm>
          <a:prstGeom prst="rect">
            <a:avLst/>
          </a:prstGeom>
        </p:spPr>
      </p:pic>
      <p:sp>
        <p:nvSpPr>
          <p:cNvPr id="20" name="Text 16"/>
          <p:cNvSpPr/>
          <p:nvPr/>
        </p:nvSpPr>
        <p:spPr>
          <a:xfrm>
            <a:off x="1051560" y="4251960"/>
            <a:ext cx="7315200" cy="45720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WORKBOOK:  Excel_Agent_Mode_Guide_for_Finance_(Copilot).xlsx</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NL"/>
          </a:p>
        </p:txBody>
      </p:sp>
      <p:sp>
        <p:nvSpPr>
          <p:cNvPr id="3" name="Shape 1"/>
          <p:cNvSpPr/>
          <p:nvPr/>
        </p:nvSpPr>
        <p:spPr>
          <a:xfrm>
            <a:off x="548640" y="274320"/>
            <a:ext cx="914400" cy="347472"/>
          </a:xfrm>
          <a:prstGeom prst="rect">
            <a:avLst/>
          </a:prstGeom>
          <a:solidFill>
            <a:srgbClr val="0F1B2D"/>
          </a:solidFill>
          <a:ln/>
        </p:spPr>
        <p:txBody>
          <a:bodyPr/>
          <a:lstStyle/>
          <a:p>
            <a:endParaRPr lang="en-NL"/>
          </a:p>
        </p:txBody>
      </p:sp>
      <p:sp>
        <p:nvSpPr>
          <p:cNvPr id="4" name="Text 2"/>
          <p:cNvSpPr/>
          <p:nvPr/>
        </p:nvSpPr>
        <p:spPr>
          <a:xfrm>
            <a:off x="548640" y="274320"/>
            <a:ext cx="914400" cy="347472"/>
          </a:xfrm>
          <a:prstGeom prst="rect">
            <a:avLst/>
          </a:prstGeom>
          <a:noFill/>
          <a:ln/>
        </p:spPr>
        <p:txBody>
          <a:bodyPr wrap="square" rtlCol="0" anchor="ctr"/>
          <a:lstStyle/>
          <a:p>
            <a:pPr marL="0" indent="0" algn="ctr">
              <a:buNone/>
            </a:pPr>
            <a:r>
              <a:rPr lang="en-US" sz="1200" b="1" dirty="0">
                <a:solidFill>
                  <a:srgbClr val="0D9488"/>
                </a:solidFill>
                <a:latin typeface="Trebuchet MS" pitchFamily="34" charset="0"/>
                <a:ea typeface="Trebuchet MS" pitchFamily="34" charset="-122"/>
                <a:cs typeface="Trebuchet MS" pitchFamily="34" charset="-120"/>
              </a:rPr>
              <a:t>DAY 2</a:t>
            </a:r>
            <a:endParaRPr lang="en-US" sz="1200" dirty="0"/>
          </a:p>
        </p:txBody>
      </p:sp>
      <p:sp>
        <p:nvSpPr>
          <p:cNvPr id="5" name="Shape 3"/>
          <p:cNvSpPr/>
          <p:nvPr/>
        </p:nvSpPr>
        <p:spPr>
          <a:xfrm>
            <a:off x="1554480" y="274320"/>
            <a:ext cx="2011680" cy="347472"/>
          </a:xfrm>
          <a:prstGeom prst="rect">
            <a:avLst/>
          </a:prstGeom>
          <a:solidFill>
            <a:srgbClr val="E0F2FE"/>
          </a:solidFill>
          <a:ln/>
        </p:spPr>
        <p:txBody>
          <a:bodyPr/>
          <a:lstStyle/>
          <a:p>
            <a:endParaRPr lang="en-NL"/>
          </a:p>
        </p:txBody>
      </p:sp>
      <p:sp>
        <p:nvSpPr>
          <p:cNvPr id="6" name="Text 4"/>
          <p:cNvSpPr/>
          <p:nvPr/>
        </p:nvSpPr>
        <p:spPr>
          <a:xfrm>
            <a:off x="1554480" y="274320"/>
            <a:ext cx="2011680" cy="347472"/>
          </a:xfrm>
          <a:prstGeom prst="rect">
            <a:avLst/>
          </a:prstGeom>
          <a:noFill/>
          <a:ln/>
        </p:spPr>
        <p:txBody>
          <a:bodyPr wrap="square"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Copilot Agent Mode</a:t>
            </a:r>
            <a:endParaRPr lang="en-US" sz="1000" dirty="0"/>
          </a:p>
        </p:txBody>
      </p:sp>
      <p:sp>
        <p:nvSpPr>
          <p:cNvPr id="7" name="Text 5"/>
          <p:cNvSpPr/>
          <p:nvPr/>
        </p:nvSpPr>
        <p:spPr>
          <a:xfrm>
            <a:off x="548640" y="777240"/>
            <a:ext cx="8046720" cy="457200"/>
          </a:xfrm>
          <a:prstGeom prst="rect">
            <a:avLst/>
          </a:prstGeom>
          <a:noFill/>
          <a:ln/>
        </p:spPr>
        <p:txBody>
          <a:bodyPr wrap="square" lIns="0" tIns="0" rIns="0" bIns="0" rtlCol="0" anchor="ctr"/>
          <a:lstStyle/>
          <a:p>
            <a:pPr marL="0" indent="0">
              <a:buNone/>
            </a:pPr>
            <a:r>
              <a:rPr lang="en-US" sz="2200" b="1" dirty="0">
                <a:solidFill>
                  <a:srgbClr val="1E293B"/>
                </a:solidFill>
                <a:latin typeface="Trebuchet MS" pitchFamily="34" charset="0"/>
                <a:ea typeface="Trebuchet MS" pitchFamily="34" charset="-122"/>
                <a:cs typeface="Trebuchet MS" pitchFamily="34" charset="-120"/>
              </a:rPr>
              <a:t>Agent Mode: Loan Amortization Calculator</a:t>
            </a:r>
            <a:endParaRPr lang="en-US" sz="2200" dirty="0"/>
          </a:p>
        </p:txBody>
      </p:sp>
      <p:pic>
        <p:nvPicPr>
          <p:cNvPr id="8" name="Image 0" descr="preencoded.png"/>
          <p:cNvPicPr>
            <a:picLocks noChangeAspect="1"/>
          </p:cNvPicPr>
          <p:nvPr/>
        </p:nvPicPr>
        <p:blipFill>
          <a:blip r:embed="rId3"/>
          <a:stretch>
            <a:fillRect/>
          </a:stretch>
        </p:blipFill>
        <p:spPr>
          <a:xfrm>
            <a:off x="548640" y="1417320"/>
            <a:ext cx="274320" cy="274320"/>
          </a:xfrm>
          <a:prstGeom prst="rect">
            <a:avLst/>
          </a:prstGeom>
        </p:spPr>
      </p:pic>
      <p:sp>
        <p:nvSpPr>
          <p:cNvPr id="9" name="Text 6"/>
          <p:cNvSpPr/>
          <p:nvPr/>
        </p:nvSpPr>
        <p:spPr>
          <a:xfrm>
            <a:off x="914400" y="141732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WHAT YOU'LL DO</a:t>
            </a:r>
            <a:endParaRPr lang="en-US" sz="1000" dirty="0"/>
          </a:p>
        </p:txBody>
      </p:sp>
      <p:sp>
        <p:nvSpPr>
          <p:cNvPr id="10" name="Text 7"/>
          <p:cNvSpPr/>
          <p:nvPr/>
        </p:nvSpPr>
        <p:spPr>
          <a:xfrm>
            <a:off x="548640" y="1737360"/>
            <a:ext cx="4754880" cy="822960"/>
          </a:xfrm>
          <a:prstGeom prst="rect">
            <a:avLst/>
          </a:prstGeom>
          <a:noFill/>
          <a:ln/>
        </p:spPr>
        <p:txBody>
          <a:bodyPr wrap="square" lIns="0" tIns="0" rIns="0" bIns="0" rtlCol="0" anchor="ctr"/>
          <a:lstStyle/>
          <a:p>
            <a:pPr marL="0" indent="0">
              <a:lnSpc>
                <a:spcPct val="135000"/>
              </a:lnSpc>
              <a:buNone/>
            </a:pPr>
            <a:r>
              <a:rPr lang="en-US" sz="1100" dirty="0">
                <a:solidFill>
                  <a:srgbClr val="64748B"/>
                </a:solidFill>
                <a:latin typeface="Calibri" pitchFamily="34" charset="0"/>
                <a:ea typeface="Calibri" pitchFamily="34" charset="-122"/>
                <a:cs typeface="Calibri" pitchFamily="34" charset="-120"/>
              </a:rPr>
              <a:t>Ask Agent Mode to build a dynamic loan calculator with monthly payment schedule, principal vs. interest split, and remaining balance — formatted and ready to use.</a:t>
            </a:r>
            <a:endParaRPr lang="en-US" sz="1100" dirty="0"/>
          </a:p>
        </p:txBody>
      </p:sp>
      <p:sp>
        <p:nvSpPr>
          <p:cNvPr id="11" name="Text 8"/>
          <p:cNvSpPr/>
          <p:nvPr/>
        </p:nvSpPr>
        <p:spPr>
          <a:xfrm>
            <a:off x="548640" y="2606040"/>
            <a:ext cx="2743200" cy="22860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PROMPT TO TRY</a:t>
            </a:r>
            <a:endParaRPr lang="en-US" sz="1000" dirty="0"/>
          </a:p>
        </p:txBody>
      </p:sp>
      <p:sp>
        <p:nvSpPr>
          <p:cNvPr id="12" name="Shape 9"/>
          <p:cNvSpPr/>
          <p:nvPr/>
        </p:nvSpPr>
        <p:spPr>
          <a:xfrm>
            <a:off x="548640" y="2880360"/>
            <a:ext cx="4754880" cy="1188720"/>
          </a:xfrm>
          <a:prstGeom prst="rect">
            <a:avLst/>
          </a:prstGeom>
          <a:solidFill>
            <a:srgbClr val="F1F5F9"/>
          </a:solidFill>
          <a:ln/>
        </p:spPr>
        <p:txBody>
          <a:bodyPr/>
          <a:lstStyle/>
          <a:p>
            <a:endParaRPr lang="en-NL"/>
          </a:p>
        </p:txBody>
      </p:sp>
      <p:sp>
        <p:nvSpPr>
          <p:cNvPr id="13" name="Shape 10"/>
          <p:cNvSpPr/>
          <p:nvPr/>
        </p:nvSpPr>
        <p:spPr>
          <a:xfrm>
            <a:off x="548640" y="2880360"/>
            <a:ext cx="54864" cy="1188720"/>
          </a:xfrm>
          <a:prstGeom prst="rect">
            <a:avLst/>
          </a:prstGeom>
          <a:solidFill>
            <a:srgbClr val="0D9488"/>
          </a:solidFill>
          <a:ln/>
        </p:spPr>
        <p:txBody>
          <a:bodyPr/>
          <a:lstStyle/>
          <a:p>
            <a:endParaRPr lang="en-NL"/>
          </a:p>
        </p:txBody>
      </p:sp>
      <p:sp>
        <p:nvSpPr>
          <p:cNvPr id="14" name="Text 11"/>
          <p:cNvSpPr/>
          <p:nvPr/>
        </p:nvSpPr>
        <p:spPr>
          <a:xfrm>
            <a:off x="731520" y="2926080"/>
            <a:ext cx="4434840" cy="1097280"/>
          </a:xfrm>
          <a:prstGeom prst="rect">
            <a:avLst/>
          </a:prstGeom>
          <a:noFill/>
          <a:ln/>
        </p:spPr>
        <p:txBody>
          <a:bodyPr wrap="square" lIns="0" tIns="0" rIns="0" bIns="0" rtlCol="0" anchor="ctr"/>
          <a:lstStyle/>
          <a:p>
            <a:pPr marL="0" indent="0">
              <a:lnSpc>
                <a:spcPct val="130000"/>
              </a:lnSpc>
              <a:buNone/>
            </a:pPr>
            <a:r>
              <a:rPr lang="en-US" sz="950" dirty="0">
                <a:solidFill>
                  <a:srgbClr val="1E293B"/>
                </a:solidFill>
                <a:latin typeface="Consolas" pitchFamily="34" charset="0"/>
                <a:ea typeface="Consolas" pitchFamily="34" charset="-122"/>
                <a:cs typeface="Consolas" pitchFamily="34" charset="-120"/>
              </a:rPr>
              <a:t>"Build a loan calculator that computes monthly payments based on user inputs for loan amount, annual interest rate, and term in years. Generate a schedule showing month, payment, principal, interest, and remaining balance."</a:t>
            </a:r>
            <a:endParaRPr lang="en-US" sz="950" dirty="0"/>
          </a:p>
        </p:txBody>
      </p:sp>
      <p:sp>
        <p:nvSpPr>
          <p:cNvPr id="15" name="Shape 12"/>
          <p:cNvSpPr/>
          <p:nvPr/>
        </p:nvSpPr>
        <p:spPr>
          <a:xfrm>
            <a:off x="5669280" y="1417320"/>
            <a:ext cx="3108960" cy="2651760"/>
          </a:xfrm>
          <a:prstGeom prst="rect">
            <a:avLst/>
          </a:prstGeom>
          <a:solidFill>
            <a:srgbClr val="0F1B2D"/>
          </a:solidFill>
          <a:ln/>
        </p:spPr>
        <p:txBody>
          <a:bodyPr/>
          <a:lstStyle/>
          <a:p>
            <a:endParaRPr lang="en-NL"/>
          </a:p>
        </p:txBody>
      </p:sp>
      <p:sp>
        <p:nvSpPr>
          <p:cNvPr id="16" name="Text 13"/>
          <p:cNvSpPr/>
          <p:nvPr/>
        </p:nvSpPr>
        <p:spPr>
          <a:xfrm>
            <a:off x="5852160" y="155448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SKILLS YOU'LL BUILD</a:t>
            </a:r>
            <a:endParaRPr lang="en-US" sz="1000" dirty="0"/>
          </a:p>
        </p:txBody>
      </p:sp>
      <p:sp>
        <p:nvSpPr>
          <p:cNvPr id="17" name="Text 14"/>
          <p:cNvSpPr/>
          <p:nvPr/>
        </p:nvSpPr>
        <p:spPr>
          <a:xfrm>
            <a:off x="5852160" y="1874520"/>
            <a:ext cx="2743200" cy="1645920"/>
          </a:xfrm>
          <a:prstGeom prst="rect">
            <a:avLst/>
          </a:prstGeom>
          <a:noFill/>
          <a:ln/>
        </p:spPr>
        <p:txBody>
          <a:bodyPr wrap="square" rtlCol="0" anchor="ctr"/>
          <a:lstStyle/>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Financial modeling with AI assistance</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Amortization schedule structure</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User-input driven templates</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Validating AI math outputs</a:t>
            </a:r>
            <a:endParaRPr lang="en-US" sz="1100" dirty="0"/>
          </a:p>
        </p:txBody>
      </p:sp>
      <p:sp>
        <p:nvSpPr>
          <p:cNvPr id="18" name="Shape 15"/>
          <p:cNvSpPr/>
          <p:nvPr/>
        </p:nvSpPr>
        <p:spPr>
          <a:xfrm>
            <a:off x="548640" y="4251960"/>
            <a:ext cx="8046720" cy="457200"/>
          </a:xfrm>
          <a:prstGeom prst="rect">
            <a:avLst/>
          </a:prstGeom>
          <a:solidFill>
            <a:srgbClr val="E0F2FE"/>
          </a:solidFill>
          <a:ln/>
        </p:spPr>
        <p:txBody>
          <a:bodyPr/>
          <a:lstStyle/>
          <a:p>
            <a:endParaRPr lang="en-NL"/>
          </a:p>
        </p:txBody>
      </p:sp>
      <p:pic>
        <p:nvPicPr>
          <p:cNvPr id="19" name="Image 1" descr="preencoded.png"/>
          <p:cNvPicPr>
            <a:picLocks noChangeAspect="1"/>
          </p:cNvPicPr>
          <p:nvPr/>
        </p:nvPicPr>
        <p:blipFill>
          <a:blip r:embed="rId4"/>
          <a:stretch>
            <a:fillRect/>
          </a:stretch>
        </p:blipFill>
        <p:spPr>
          <a:xfrm>
            <a:off x="685800" y="4315968"/>
            <a:ext cx="274320" cy="274320"/>
          </a:xfrm>
          <a:prstGeom prst="rect">
            <a:avLst/>
          </a:prstGeom>
        </p:spPr>
      </p:pic>
      <p:sp>
        <p:nvSpPr>
          <p:cNvPr id="20" name="Text 16"/>
          <p:cNvSpPr/>
          <p:nvPr/>
        </p:nvSpPr>
        <p:spPr>
          <a:xfrm>
            <a:off x="1051560" y="4251960"/>
            <a:ext cx="7315200" cy="45720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WORKBOOK:  Excel_Agent_Mode_Guide_for_Finance_(Copilot).xlsx</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NL"/>
          </a:p>
        </p:txBody>
      </p:sp>
      <p:sp>
        <p:nvSpPr>
          <p:cNvPr id="3" name="Shape 1"/>
          <p:cNvSpPr/>
          <p:nvPr/>
        </p:nvSpPr>
        <p:spPr>
          <a:xfrm>
            <a:off x="548640" y="274320"/>
            <a:ext cx="914400" cy="347472"/>
          </a:xfrm>
          <a:prstGeom prst="rect">
            <a:avLst/>
          </a:prstGeom>
          <a:solidFill>
            <a:srgbClr val="0F1B2D"/>
          </a:solidFill>
          <a:ln/>
        </p:spPr>
        <p:txBody>
          <a:bodyPr/>
          <a:lstStyle/>
          <a:p>
            <a:endParaRPr lang="en-NL"/>
          </a:p>
        </p:txBody>
      </p:sp>
      <p:sp>
        <p:nvSpPr>
          <p:cNvPr id="4" name="Text 2"/>
          <p:cNvSpPr/>
          <p:nvPr/>
        </p:nvSpPr>
        <p:spPr>
          <a:xfrm>
            <a:off x="548640" y="274320"/>
            <a:ext cx="914400" cy="347472"/>
          </a:xfrm>
          <a:prstGeom prst="rect">
            <a:avLst/>
          </a:prstGeom>
          <a:noFill/>
          <a:ln/>
        </p:spPr>
        <p:txBody>
          <a:bodyPr wrap="square" rtlCol="0" anchor="ctr"/>
          <a:lstStyle/>
          <a:p>
            <a:pPr marL="0" indent="0" algn="ctr">
              <a:buNone/>
            </a:pPr>
            <a:r>
              <a:rPr lang="en-US" sz="1200" b="1" dirty="0">
                <a:solidFill>
                  <a:srgbClr val="0D9488"/>
                </a:solidFill>
                <a:latin typeface="Trebuchet MS" pitchFamily="34" charset="0"/>
                <a:ea typeface="Trebuchet MS" pitchFamily="34" charset="-122"/>
                <a:cs typeface="Trebuchet MS" pitchFamily="34" charset="-120"/>
              </a:rPr>
              <a:t>DAY 3</a:t>
            </a:r>
            <a:endParaRPr lang="en-US" sz="1200" dirty="0"/>
          </a:p>
        </p:txBody>
      </p:sp>
      <p:sp>
        <p:nvSpPr>
          <p:cNvPr id="5" name="Shape 3"/>
          <p:cNvSpPr/>
          <p:nvPr/>
        </p:nvSpPr>
        <p:spPr>
          <a:xfrm>
            <a:off x="1554480" y="274320"/>
            <a:ext cx="2011680" cy="347472"/>
          </a:xfrm>
          <a:prstGeom prst="rect">
            <a:avLst/>
          </a:prstGeom>
          <a:solidFill>
            <a:srgbClr val="E0F2FE"/>
          </a:solidFill>
          <a:ln/>
        </p:spPr>
        <p:txBody>
          <a:bodyPr/>
          <a:lstStyle/>
          <a:p>
            <a:endParaRPr lang="en-NL"/>
          </a:p>
        </p:txBody>
      </p:sp>
      <p:sp>
        <p:nvSpPr>
          <p:cNvPr id="6" name="Text 4"/>
          <p:cNvSpPr/>
          <p:nvPr/>
        </p:nvSpPr>
        <p:spPr>
          <a:xfrm>
            <a:off x="1554480" y="274320"/>
            <a:ext cx="2011680" cy="347472"/>
          </a:xfrm>
          <a:prstGeom prst="rect">
            <a:avLst/>
          </a:prstGeom>
          <a:noFill/>
          <a:ln/>
        </p:spPr>
        <p:txBody>
          <a:bodyPr wrap="square"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Copilot Agent Mode</a:t>
            </a:r>
            <a:endParaRPr lang="en-US" sz="1000" dirty="0"/>
          </a:p>
        </p:txBody>
      </p:sp>
      <p:sp>
        <p:nvSpPr>
          <p:cNvPr id="7" name="Text 5"/>
          <p:cNvSpPr/>
          <p:nvPr/>
        </p:nvSpPr>
        <p:spPr>
          <a:xfrm>
            <a:off x="548640" y="777240"/>
            <a:ext cx="8046720" cy="457200"/>
          </a:xfrm>
          <a:prstGeom prst="rect">
            <a:avLst/>
          </a:prstGeom>
          <a:noFill/>
          <a:ln/>
        </p:spPr>
        <p:txBody>
          <a:bodyPr wrap="square" lIns="0" tIns="0" rIns="0" bIns="0" rtlCol="0" anchor="ctr"/>
          <a:lstStyle/>
          <a:p>
            <a:pPr marL="0" indent="0">
              <a:buNone/>
            </a:pPr>
            <a:r>
              <a:rPr lang="en-US" sz="2200" b="1" dirty="0">
                <a:solidFill>
                  <a:srgbClr val="1E293B"/>
                </a:solidFill>
                <a:latin typeface="Trebuchet MS" pitchFamily="34" charset="0"/>
                <a:ea typeface="Trebuchet MS" pitchFamily="34" charset="-122"/>
                <a:cs typeface="Trebuchet MS" pitchFamily="34" charset="-120"/>
              </a:rPr>
              <a:t>Agent Mode: Budget Tracker with Charts</a:t>
            </a:r>
            <a:endParaRPr lang="en-US" sz="2200" dirty="0"/>
          </a:p>
        </p:txBody>
      </p:sp>
      <p:pic>
        <p:nvPicPr>
          <p:cNvPr id="8" name="Image 0" descr="preencoded.png"/>
          <p:cNvPicPr>
            <a:picLocks noChangeAspect="1"/>
          </p:cNvPicPr>
          <p:nvPr/>
        </p:nvPicPr>
        <p:blipFill>
          <a:blip r:embed="rId3"/>
          <a:stretch>
            <a:fillRect/>
          </a:stretch>
        </p:blipFill>
        <p:spPr>
          <a:xfrm>
            <a:off x="548640" y="1417320"/>
            <a:ext cx="274320" cy="274320"/>
          </a:xfrm>
          <a:prstGeom prst="rect">
            <a:avLst/>
          </a:prstGeom>
        </p:spPr>
      </p:pic>
      <p:sp>
        <p:nvSpPr>
          <p:cNvPr id="9" name="Text 6"/>
          <p:cNvSpPr/>
          <p:nvPr/>
        </p:nvSpPr>
        <p:spPr>
          <a:xfrm>
            <a:off x="914400" y="141732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WHAT YOU'LL DO</a:t>
            </a:r>
            <a:endParaRPr lang="en-US" sz="1000" dirty="0"/>
          </a:p>
        </p:txBody>
      </p:sp>
      <p:sp>
        <p:nvSpPr>
          <p:cNvPr id="10" name="Text 7"/>
          <p:cNvSpPr/>
          <p:nvPr/>
        </p:nvSpPr>
        <p:spPr>
          <a:xfrm>
            <a:off x="548640" y="1737360"/>
            <a:ext cx="4754880" cy="822960"/>
          </a:xfrm>
          <a:prstGeom prst="rect">
            <a:avLst/>
          </a:prstGeom>
          <a:noFill/>
          <a:ln/>
        </p:spPr>
        <p:txBody>
          <a:bodyPr wrap="square" lIns="0" tIns="0" rIns="0" bIns="0" rtlCol="0" anchor="ctr"/>
          <a:lstStyle/>
          <a:p>
            <a:pPr marL="0" indent="0">
              <a:lnSpc>
                <a:spcPct val="135000"/>
              </a:lnSpc>
              <a:buNone/>
            </a:pPr>
            <a:r>
              <a:rPr lang="en-US" sz="1100" dirty="0">
                <a:solidFill>
                  <a:srgbClr val="64748B"/>
                </a:solidFill>
                <a:latin typeface="Calibri" pitchFamily="34" charset="0"/>
                <a:ea typeface="Calibri" pitchFamily="34" charset="-122"/>
                <a:cs typeface="Calibri" pitchFamily="34" charset="-120"/>
              </a:rPr>
              <a:t>Have Agent Mode create a monthly household budget tracker with categories, conditional formatting, data bars, and a donut chart — demonstrating how it handles multi-step tasks.</a:t>
            </a:r>
            <a:endParaRPr lang="en-US" sz="1100" dirty="0"/>
          </a:p>
        </p:txBody>
      </p:sp>
      <p:sp>
        <p:nvSpPr>
          <p:cNvPr id="11" name="Text 8"/>
          <p:cNvSpPr/>
          <p:nvPr/>
        </p:nvSpPr>
        <p:spPr>
          <a:xfrm>
            <a:off x="548640" y="2606040"/>
            <a:ext cx="2743200" cy="22860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PROMPT TO TRY</a:t>
            </a:r>
            <a:endParaRPr lang="en-US" sz="1000" dirty="0"/>
          </a:p>
        </p:txBody>
      </p:sp>
      <p:sp>
        <p:nvSpPr>
          <p:cNvPr id="12" name="Shape 9"/>
          <p:cNvSpPr/>
          <p:nvPr/>
        </p:nvSpPr>
        <p:spPr>
          <a:xfrm>
            <a:off x="548640" y="2880360"/>
            <a:ext cx="4754880" cy="1188720"/>
          </a:xfrm>
          <a:prstGeom prst="rect">
            <a:avLst/>
          </a:prstGeom>
          <a:solidFill>
            <a:srgbClr val="F1F5F9"/>
          </a:solidFill>
          <a:ln/>
        </p:spPr>
        <p:txBody>
          <a:bodyPr/>
          <a:lstStyle/>
          <a:p>
            <a:endParaRPr lang="en-NL"/>
          </a:p>
        </p:txBody>
      </p:sp>
      <p:sp>
        <p:nvSpPr>
          <p:cNvPr id="13" name="Shape 10"/>
          <p:cNvSpPr/>
          <p:nvPr/>
        </p:nvSpPr>
        <p:spPr>
          <a:xfrm>
            <a:off x="548640" y="2880360"/>
            <a:ext cx="54864" cy="1188720"/>
          </a:xfrm>
          <a:prstGeom prst="rect">
            <a:avLst/>
          </a:prstGeom>
          <a:solidFill>
            <a:srgbClr val="0D9488"/>
          </a:solidFill>
          <a:ln/>
        </p:spPr>
        <p:txBody>
          <a:bodyPr/>
          <a:lstStyle/>
          <a:p>
            <a:endParaRPr lang="en-NL"/>
          </a:p>
        </p:txBody>
      </p:sp>
      <p:sp>
        <p:nvSpPr>
          <p:cNvPr id="14" name="Text 11"/>
          <p:cNvSpPr/>
          <p:nvPr/>
        </p:nvSpPr>
        <p:spPr>
          <a:xfrm>
            <a:off x="731520" y="2926080"/>
            <a:ext cx="4434840" cy="1097280"/>
          </a:xfrm>
          <a:prstGeom prst="rect">
            <a:avLst/>
          </a:prstGeom>
          <a:noFill/>
          <a:ln/>
        </p:spPr>
        <p:txBody>
          <a:bodyPr wrap="square" lIns="0" tIns="0" rIns="0" bIns="0" rtlCol="0" anchor="ctr"/>
          <a:lstStyle/>
          <a:p>
            <a:pPr marL="0" indent="0">
              <a:lnSpc>
                <a:spcPct val="130000"/>
              </a:lnSpc>
              <a:buNone/>
            </a:pPr>
            <a:r>
              <a:rPr lang="en-US" sz="950" dirty="0">
                <a:solidFill>
                  <a:srgbClr val="1E293B"/>
                </a:solidFill>
                <a:latin typeface="Consolas" pitchFamily="34" charset="0"/>
                <a:ea typeface="Consolas" pitchFamily="34" charset="-122"/>
                <a:cs typeface="Consolas" pitchFamily="34" charset="-120"/>
              </a:rPr>
              <a:t>"Create a monthly budget tracker with categories like Rent, Groceries, Utilities, Entertainment, Transportation, and Savings. Apply conditional formatting and data bars for % Over/Under Budget. Add a donut chart for spending distribution."</a:t>
            </a:r>
            <a:endParaRPr lang="en-US" sz="950" dirty="0"/>
          </a:p>
        </p:txBody>
      </p:sp>
      <p:sp>
        <p:nvSpPr>
          <p:cNvPr id="15" name="Shape 12"/>
          <p:cNvSpPr/>
          <p:nvPr/>
        </p:nvSpPr>
        <p:spPr>
          <a:xfrm>
            <a:off x="5669280" y="1417320"/>
            <a:ext cx="3108960" cy="2651760"/>
          </a:xfrm>
          <a:prstGeom prst="rect">
            <a:avLst/>
          </a:prstGeom>
          <a:solidFill>
            <a:srgbClr val="0F1B2D"/>
          </a:solidFill>
          <a:ln/>
        </p:spPr>
        <p:txBody>
          <a:bodyPr/>
          <a:lstStyle/>
          <a:p>
            <a:endParaRPr lang="en-NL"/>
          </a:p>
        </p:txBody>
      </p:sp>
      <p:sp>
        <p:nvSpPr>
          <p:cNvPr id="16" name="Text 13"/>
          <p:cNvSpPr/>
          <p:nvPr/>
        </p:nvSpPr>
        <p:spPr>
          <a:xfrm>
            <a:off x="5852160" y="155448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SKILLS YOU'LL BUILD</a:t>
            </a:r>
            <a:endParaRPr lang="en-US" sz="1000" dirty="0"/>
          </a:p>
        </p:txBody>
      </p:sp>
      <p:sp>
        <p:nvSpPr>
          <p:cNvPr id="17" name="Text 14"/>
          <p:cNvSpPr/>
          <p:nvPr/>
        </p:nvSpPr>
        <p:spPr>
          <a:xfrm>
            <a:off x="5852160" y="1874520"/>
            <a:ext cx="2743200" cy="1645920"/>
          </a:xfrm>
          <a:prstGeom prst="rect">
            <a:avLst/>
          </a:prstGeom>
          <a:noFill/>
          <a:ln/>
        </p:spPr>
        <p:txBody>
          <a:bodyPr wrap="square" rtlCol="0" anchor="ctr"/>
          <a:lstStyle/>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Multi-step AI task execution</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Chart creation via natural language</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Conditional formatting automation</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Iterative prompt refinement</a:t>
            </a:r>
            <a:endParaRPr lang="en-US" sz="1100" dirty="0"/>
          </a:p>
        </p:txBody>
      </p:sp>
      <p:sp>
        <p:nvSpPr>
          <p:cNvPr id="18" name="Shape 15"/>
          <p:cNvSpPr/>
          <p:nvPr/>
        </p:nvSpPr>
        <p:spPr>
          <a:xfrm>
            <a:off x="548640" y="4251960"/>
            <a:ext cx="8046720" cy="457200"/>
          </a:xfrm>
          <a:prstGeom prst="rect">
            <a:avLst/>
          </a:prstGeom>
          <a:solidFill>
            <a:srgbClr val="E0F2FE"/>
          </a:solidFill>
          <a:ln/>
        </p:spPr>
        <p:txBody>
          <a:bodyPr/>
          <a:lstStyle/>
          <a:p>
            <a:endParaRPr lang="en-NL"/>
          </a:p>
        </p:txBody>
      </p:sp>
      <p:pic>
        <p:nvPicPr>
          <p:cNvPr id="19" name="Image 1" descr="preencoded.png"/>
          <p:cNvPicPr>
            <a:picLocks noChangeAspect="1"/>
          </p:cNvPicPr>
          <p:nvPr/>
        </p:nvPicPr>
        <p:blipFill>
          <a:blip r:embed="rId4"/>
          <a:stretch>
            <a:fillRect/>
          </a:stretch>
        </p:blipFill>
        <p:spPr>
          <a:xfrm>
            <a:off x="685800" y="4315968"/>
            <a:ext cx="274320" cy="274320"/>
          </a:xfrm>
          <a:prstGeom prst="rect">
            <a:avLst/>
          </a:prstGeom>
        </p:spPr>
      </p:pic>
      <p:sp>
        <p:nvSpPr>
          <p:cNvPr id="20" name="Text 16"/>
          <p:cNvSpPr/>
          <p:nvPr/>
        </p:nvSpPr>
        <p:spPr>
          <a:xfrm>
            <a:off x="1051560" y="4251960"/>
            <a:ext cx="7315200" cy="45720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WORKBOOK:  Excel_Agent_Mode_Guide_for_Finance_(Copilot).xlsx</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NL"/>
          </a:p>
        </p:txBody>
      </p:sp>
      <p:sp>
        <p:nvSpPr>
          <p:cNvPr id="3" name="Shape 1"/>
          <p:cNvSpPr/>
          <p:nvPr/>
        </p:nvSpPr>
        <p:spPr>
          <a:xfrm>
            <a:off x="548640" y="274320"/>
            <a:ext cx="914400" cy="347472"/>
          </a:xfrm>
          <a:prstGeom prst="rect">
            <a:avLst/>
          </a:prstGeom>
          <a:solidFill>
            <a:srgbClr val="0F1B2D"/>
          </a:solidFill>
          <a:ln/>
        </p:spPr>
        <p:txBody>
          <a:bodyPr/>
          <a:lstStyle/>
          <a:p>
            <a:endParaRPr lang="en-NL"/>
          </a:p>
        </p:txBody>
      </p:sp>
      <p:sp>
        <p:nvSpPr>
          <p:cNvPr id="4" name="Text 2"/>
          <p:cNvSpPr/>
          <p:nvPr/>
        </p:nvSpPr>
        <p:spPr>
          <a:xfrm>
            <a:off x="548640" y="274320"/>
            <a:ext cx="914400" cy="347472"/>
          </a:xfrm>
          <a:prstGeom prst="rect">
            <a:avLst/>
          </a:prstGeom>
          <a:noFill/>
          <a:ln/>
        </p:spPr>
        <p:txBody>
          <a:bodyPr wrap="square" rtlCol="0" anchor="ctr"/>
          <a:lstStyle/>
          <a:p>
            <a:pPr marL="0" indent="0" algn="ctr">
              <a:buNone/>
            </a:pPr>
            <a:r>
              <a:rPr lang="en-US" sz="1200" b="1" dirty="0">
                <a:solidFill>
                  <a:srgbClr val="0D9488"/>
                </a:solidFill>
                <a:latin typeface="Trebuchet MS" pitchFamily="34" charset="0"/>
                <a:ea typeface="Trebuchet MS" pitchFamily="34" charset="-122"/>
                <a:cs typeface="Trebuchet MS" pitchFamily="34" charset="-120"/>
              </a:rPr>
              <a:t>DAY 4</a:t>
            </a:r>
            <a:endParaRPr lang="en-US" sz="1200" dirty="0"/>
          </a:p>
        </p:txBody>
      </p:sp>
      <p:sp>
        <p:nvSpPr>
          <p:cNvPr id="5" name="Shape 3"/>
          <p:cNvSpPr/>
          <p:nvPr/>
        </p:nvSpPr>
        <p:spPr>
          <a:xfrm>
            <a:off x="1554480" y="274320"/>
            <a:ext cx="2011680" cy="347472"/>
          </a:xfrm>
          <a:prstGeom prst="rect">
            <a:avLst/>
          </a:prstGeom>
          <a:solidFill>
            <a:srgbClr val="E0F2FE"/>
          </a:solidFill>
          <a:ln/>
        </p:spPr>
        <p:txBody>
          <a:bodyPr/>
          <a:lstStyle/>
          <a:p>
            <a:endParaRPr lang="en-NL"/>
          </a:p>
        </p:txBody>
      </p:sp>
      <p:sp>
        <p:nvSpPr>
          <p:cNvPr id="6" name="Text 4"/>
          <p:cNvSpPr/>
          <p:nvPr/>
        </p:nvSpPr>
        <p:spPr>
          <a:xfrm>
            <a:off x="1554480" y="274320"/>
            <a:ext cx="2011680" cy="347472"/>
          </a:xfrm>
          <a:prstGeom prst="rect">
            <a:avLst/>
          </a:prstGeom>
          <a:noFill/>
          <a:ln/>
        </p:spPr>
        <p:txBody>
          <a:bodyPr wrap="square"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=COPILOT() Function</a:t>
            </a:r>
            <a:endParaRPr lang="en-US" sz="1000" dirty="0"/>
          </a:p>
        </p:txBody>
      </p:sp>
      <p:sp>
        <p:nvSpPr>
          <p:cNvPr id="7" name="Text 5"/>
          <p:cNvSpPr/>
          <p:nvPr/>
        </p:nvSpPr>
        <p:spPr>
          <a:xfrm>
            <a:off x="548640" y="777240"/>
            <a:ext cx="8046720" cy="457200"/>
          </a:xfrm>
          <a:prstGeom prst="rect">
            <a:avLst/>
          </a:prstGeom>
          <a:noFill/>
          <a:ln/>
        </p:spPr>
        <p:txBody>
          <a:bodyPr wrap="square" lIns="0" tIns="0" rIns="0" bIns="0" rtlCol="0" anchor="ctr"/>
          <a:lstStyle/>
          <a:p>
            <a:pPr marL="0" indent="0">
              <a:buNone/>
            </a:pPr>
            <a:r>
              <a:rPr lang="en-US" sz="2200" b="1" dirty="0">
                <a:solidFill>
                  <a:srgbClr val="1E293B"/>
                </a:solidFill>
                <a:latin typeface="Trebuchet MS" pitchFamily="34" charset="0"/>
                <a:ea typeface="Trebuchet MS" pitchFamily="34" charset="-122"/>
                <a:cs typeface="Trebuchet MS" pitchFamily="34" charset="-120"/>
              </a:rPr>
              <a:t>=COPILOT() Formula: Variance &amp; Trend Analysis</a:t>
            </a:r>
            <a:endParaRPr lang="en-US" sz="2200" dirty="0"/>
          </a:p>
        </p:txBody>
      </p:sp>
      <p:pic>
        <p:nvPicPr>
          <p:cNvPr id="8" name="Image 0" descr="preencoded.png"/>
          <p:cNvPicPr>
            <a:picLocks noChangeAspect="1"/>
          </p:cNvPicPr>
          <p:nvPr/>
        </p:nvPicPr>
        <p:blipFill>
          <a:blip r:embed="rId3"/>
          <a:stretch>
            <a:fillRect/>
          </a:stretch>
        </p:blipFill>
        <p:spPr>
          <a:xfrm>
            <a:off x="548640" y="1417320"/>
            <a:ext cx="274320" cy="274320"/>
          </a:xfrm>
          <a:prstGeom prst="rect">
            <a:avLst/>
          </a:prstGeom>
        </p:spPr>
      </p:pic>
      <p:sp>
        <p:nvSpPr>
          <p:cNvPr id="9" name="Text 6"/>
          <p:cNvSpPr/>
          <p:nvPr/>
        </p:nvSpPr>
        <p:spPr>
          <a:xfrm>
            <a:off x="914400" y="141732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WHAT YOU'LL DO</a:t>
            </a:r>
            <a:endParaRPr lang="en-US" sz="1000" dirty="0"/>
          </a:p>
        </p:txBody>
      </p:sp>
      <p:sp>
        <p:nvSpPr>
          <p:cNvPr id="10" name="Text 7"/>
          <p:cNvSpPr/>
          <p:nvPr/>
        </p:nvSpPr>
        <p:spPr>
          <a:xfrm>
            <a:off x="548640" y="1737360"/>
            <a:ext cx="4754880" cy="822960"/>
          </a:xfrm>
          <a:prstGeom prst="rect">
            <a:avLst/>
          </a:prstGeom>
          <a:noFill/>
          <a:ln/>
        </p:spPr>
        <p:txBody>
          <a:bodyPr wrap="square" lIns="0" tIns="0" rIns="0" bIns="0" rtlCol="0" anchor="ctr"/>
          <a:lstStyle/>
          <a:p>
            <a:pPr marL="0" indent="0">
              <a:lnSpc>
                <a:spcPct val="135000"/>
              </a:lnSpc>
              <a:buNone/>
            </a:pPr>
            <a:r>
              <a:rPr lang="en-US" sz="1100" dirty="0">
                <a:solidFill>
                  <a:srgbClr val="64748B"/>
                </a:solidFill>
                <a:latin typeface="Calibri" pitchFamily="34" charset="0"/>
                <a:ea typeface="Calibri" pitchFamily="34" charset="-122"/>
                <a:cs typeface="Calibri" pitchFamily="34" charset="-120"/>
              </a:rPr>
              <a:t>Use the =COPILOT() in-cell formula to analyze budget-vs-actual variances and identify revenue/expense trends over 12 months — turning raw data into executive-ready commentary.</a:t>
            </a:r>
            <a:endParaRPr lang="en-US" sz="1100" dirty="0"/>
          </a:p>
        </p:txBody>
      </p:sp>
      <p:sp>
        <p:nvSpPr>
          <p:cNvPr id="11" name="Text 8"/>
          <p:cNvSpPr/>
          <p:nvPr/>
        </p:nvSpPr>
        <p:spPr>
          <a:xfrm>
            <a:off x="548640" y="2606040"/>
            <a:ext cx="2743200" cy="22860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PROMPT TO TRY</a:t>
            </a:r>
            <a:endParaRPr lang="en-US" sz="1000" dirty="0"/>
          </a:p>
        </p:txBody>
      </p:sp>
      <p:sp>
        <p:nvSpPr>
          <p:cNvPr id="12" name="Shape 9"/>
          <p:cNvSpPr/>
          <p:nvPr/>
        </p:nvSpPr>
        <p:spPr>
          <a:xfrm>
            <a:off x="548640" y="2880360"/>
            <a:ext cx="4754880" cy="1188720"/>
          </a:xfrm>
          <a:prstGeom prst="rect">
            <a:avLst/>
          </a:prstGeom>
          <a:solidFill>
            <a:srgbClr val="F1F5F9"/>
          </a:solidFill>
          <a:ln/>
        </p:spPr>
        <p:txBody>
          <a:bodyPr/>
          <a:lstStyle/>
          <a:p>
            <a:endParaRPr lang="en-NL"/>
          </a:p>
        </p:txBody>
      </p:sp>
      <p:sp>
        <p:nvSpPr>
          <p:cNvPr id="13" name="Shape 10"/>
          <p:cNvSpPr/>
          <p:nvPr/>
        </p:nvSpPr>
        <p:spPr>
          <a:xfrm>
            <a:off x="548640" y="2880360"/>
            <a:ext cx="54864" cy="1188720"/>
          </a:xfrm>
          <a:prstGeom prst="rect">
            <a:avLst/>
          </a:prstGeom>
          <a:solidFill>
            <a:srgbClr val="0D9488"/>
          </a:solidFill>
          <a:ln/>
        </p:spPr>
        <p:txBody>
          <a:bodyPr/>
          <a:lstStyle/>
          <a:p>
            <a:endParaRPr lang="en-NL"/>
          </a:p>
        </p:txBody>
      </p:sp>
      <p:sp>
        <p:nvSpPr>
          <p:cNvPr id="14" name="Text 11"/>
          <p:cNvSpPr/>
          <p:nvPr/>
        </p:nvSpPr>
        <p:spPr>
          <a:xfrm>
            <a:off x="731520" y="2926080"/>
            <a:ext cx="4434840" cy="1097280"/>
          </a:xfrm>
          <a:prstGeom prst="rect">
            <a:avLst/>
          </a:prstGeom>
          <a:noFill/>
          <a:ln/>
        </p:spPr>
        <p:txBody>
          <a:bodyPr wrap="square" lIns="0" tIns="0" rIns="0" bIns="0" rtlCol="0" anchor="ctr"/>
          <a:lstStyle/>
          <a:p>
            <a:pPr marL="0" indent="0">
              <a:lnSpc>
                <a:spcPct val="130000"/>
              </a:lnSpc>
              <a:buNone/>
            </a:pPr>
            <a:r>
              <a:rPr lang="en-US" sz="950" dirty="0">
                <a:solidFill>
                  <a:srgbClr val="1E293B"/>
                </a:solidFill>
                <a:latin typeface="Consolas" pitchFamily="34" charset="0"/>
                <a:ea typeface="Consolas" pitchFamily="34" charset="-122"/>
                <a:cs typeface="Consolas" pitchFamily="34" charset="-120"/>
              </a:rPr>
              <a:t>=COPILOT("Explain budget vs actual variances by department", C3:D15)</a:t>
            </a:r>
            <a:endParaRPr lang="en-US" sz="950" dirty="0"/>
          </a:p>
          <a:p>
            <a:pPr marL="0" indent="0">
              <a:lnSpc>
                <a:spcPct val="130000"/>
              </a:lnSpc>
              <a:buNone/>
            </a:pPr>
            <a:r>
              <a:rPr lang="en-US" sz="950" dirty="0">
                <a:solidFill>
                  <a:srgbClr val="1E293B"/>
                </a:solidFill>
                <a:latin typeface="Consolas" pitchFamily="34" charset="0"/>
                <a:ea typeface="Consolas" pitchFamily="34" charset="-122"/>
                <a:cs typeface="Consolas" pitchFamily="34" charset="-120"/>
              </a:rPr>
              <a:t>=COPILOT("Highlight revenue and expense trends over the past 12 months", B3:M15)</a:t>
            </a:r>
            <a:endParaRPr lang="en-US" sz="950" dirty="0"/>
          </a:p>
        </p:txBody>
      </p:sp>
      <p:sp>
        <p:nvSpPr>
          <p:cNvPr id="15" name="Shape 12"/>
          <p:cNvSpPr/>
          <p:nvPr/>
        </p:nvSpPr>
        <p:spPr>
          <a:xfrm>
            <a:off x="5669280" y="1417320"/>
            <a:ext cx="3108960" cy="2651760"/>
          </a:xfrm>
          <a:prstGeom prst="rect">
            <a:avLst/>
          </a:prstGeom>
          <a:solidFill>
            <a:srgbClr val="0F1B2D"/>
          </a:solidFill>
          <a:ln/>
        </p:spPr>
        <p:txBody>
          <a:bodyPr/>
          <a:lstStyle/>
          <a:p>
            <a:endParaRPr lang="en-NL"/>
          </a:p>
        </p:txBody>
      </p:sp>
      <p:sp>
        <p:nvSpPr>
          <p:cNvPr id="16" name="Text 13"/>
          <p:cNvSpPr/>
          <p:nvPr/>
        </p:nvSpPr>
        <p:spPr>
          <a:xfrm>
            <a:off x="5852160" y="155448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SKILLS YOU'LL BUILD</a:t>
            </a:r>
            <a:endParaRPr lang="en-US" sz="1000" dirty="0"/>
          </a:p>
        </p:txBody>
      </p:sp>
      <p:sp>
        <p:nvSpPr>
          <p:cNvPr id="17" name="Text 14"/>
          <p:cNvSpPr/>
          <p:nvPr/>
        </p:nvSpPr>
        <p:spPr>
          <a:xfrm>
            <a:off x="5852160" y="1874520"/>
            <a:ext cx="2743200" cy="1645920"/>
          </a:xfrm>
          <a:prstGeom prst="rect">
            <a:avLst/>
          </a:prstGeom>
          <a:noFill/>
          <a:ln/>
        </p:spPr>
        <p:txBody>
          <a:bodyPr wrap="square" rtlCol="0" anchor="ctr"/>
          <a:lstStyle/>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In-cell AI formula syntax</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Variance analysis interpretation</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Trend identification from financial data</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Connecting AI output to decision-making</a:t>
            </a:r>
            <a:endParaRPr lang="en-US" sz="1100" dirty="0"/>
          </a:p>
        </p:txBody>
      </p:sp>
      <p:sp>
        <p:nvSpPr>
          <p:cNvPr id="18" name="Shape 15"/>
          <p:cNvSpPr/>
          <p:nvPr/>
        </p:nvSpPr>
        <p:spPr>
          <a:xfrm>
            <a:off x="548640" y="4251960"/>
            <a:ext cx="8046720" cy="457200"/>
          </a:xfrm>
          <a:prstGeom prst="rect">
            <a:avLst/>
          </a:prstGeom>
          <a:solidFill>
            <a:srgbClr val="E0F2FE"/>
          </a:solidFill>
          <a:ln/>
        </p:spPr>
        <p:txBody>
          <a:bodyPr/>
          <a:lstStyle/>
          <a:p>
            <a:endParaRPr lang="en-NL"/>
          </a:p>
        </p:txBody>
      </p:sp>
      <p:pic>
        <p:nvPicPr>
          <p:cNvPr id="19" name="Image 1" descr="preencoded.png"/>
          <p:cNvPicPr>
            <a:picLocks noChangeAspect="1"/>
          </p:cNvPicPr>
          <p:nvPr/>
        </p:nvPicPr>
        <p:blipFill>
          <a:blip r:embed="rId4"/>
          <a:stretch>
            <a:fillRect/>
          </a:stretch>
        </p:blipFill>
        <p:spPr>
          <a:xfrm>
            <a:off x="685800" y="4315968"/>
            <a:ext cx="274320" cy="274320"/>
          </a:xfrm>
          <a:prstGeom prst="rect">
            <a:avLst/>
          </a:prstGeom>
        </p:spPr>
      </p:pic>
      <p:sp>
        <p:nvSpPr>
          <p:cNvPr id="20" name="Text 16"/>
          <p:cNvSpPr/>
          <p:nvPr/>
        </p:nvSpPr>
        <p:spPr>
          <a:xfrm>
            <a:off x="1051560" y="4251960"/>
            <a:ext cx="7315200" cy="45720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WORKBOOK:  Copilot_Formula_Dataset_and_prompts.xlsx</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NL"/>
          </a:p>
        </p:txBody>
      </p:sp>
      <p:sp>
        <p:nvSpPr>
          <p:cNvPr id="3" name="Shape 1"/>
          <p:cNvSpPr/>
          <p:nvPr/>
        </p:nvSpPr>
        <p:spPr>
          <a:xfrm>
            <a:off x="548640" y="274320"/>
            <a:ext cx="914400" cy="347472"/>
          </a:xfrm>
          <a:prstGeom prst="rect">
            <a:avLst/>
          </a:prstGeom>
          <a:solidFill>
            <a:srgbClr val="0F1B2D"/>
          </a:solidFill>
          <a:ln/>
        </p:spPr>
        <p:txBody>
          <a:bodyPr/>
          <a:lstStyle/>
          <a:p>
            <a:endParaRPr lang="en-NL"/>
          </a:p>
        </p:txBody>
      </p:sp>
      <p:sp>
        <p:nvSpPr>
          <p:cNvPr id="4" name="Text 2"/>
          <p:cNvSpPr/>
          <p:nvPr/>
        </p:nvSpPr>
        <p:spPr>
          <a:xfrm>
            <a:off x="548640" y="274320"/>
            <a:ext cx="914400" cy="347472"/>
          </a:xfrm>
          <a:prstGeom prst="rect">
            <a:avLst/>
          </a:prstGeom>
          <a:noFill/>
          <a:ln/>
        </p:spPr>
        <p:txBody>
          <a:bodyPr wrap="square" rtlCol="0" anchor="ctr"/>
          <a:lstStyle/>
          <a:p>
            <a:pPr marL="0" indent="0" algn="ctr">
              <a:buNone/>
            </a:pPr>
            <a:r>
              <a:rPr lang="en-US" sz="1200" b="1" dirty="0">
                <a:solidFill>
                  <a:srgbClr val="0D9488"/>
                </a:solidFill>
                <a:latin typeface="Trebuchet MS" pitchFamily="34" charset="0"/>
                <a:ea typeface="Trebuchet MS" pitchFamily="34" charset="-122"/>
                <a:cs typeface="Trebuchet MS" pitchFamily="34" charset="-120"/>
              </a:rPr>
              <a:t>DAY 5</a:t>
            </a:r>
            <a:endParaRPr lang="en-US" sz="1200" dirty="0"/>
          </a:p>
        </p:txBody>
      </p:sp>
      <p:sp>
        <p:nvSpPr>
          <p:cNvPr id="5" name="Shape 3"/>
          <p:cNvSpPr/>
          <p:nvPr/>
        </p:nvSpPr>
        <p:spPr>
          <a:xfrm>
            <a:off x="1554480" y="274320"/>
            <a:ext cx="2011680" cy="347472"/>
          </a:xfrm>
          <a:prstGeom prst="rect">
            <a:avLst/>
          </a:prstGeom>
          <a:solidFill>
            <a:srgbClr val="E0F2FE"/>
          </a:solidFill>
          <a:ln/>
        </p:spPr>
        <p:txBody>
          <a:bodyPr/>
          <a:lstStyle/>
          <a:p>
            <a:endParaRPr lang="en-NL"/>
          </a:p>
        </p:txBody>
      </p:sp>
      <p:sp>
        <p:nvSpPr>
          <p:cNvPr id="6" name="Text 4"/>
          <p:cNvSpPr/>
          <p:nvPr/>
        </p:nvSpPr>
        <p:spPr>
          <a:xfrm>
            <a:off x="1554480" y="274320"/>
            <a:ext cx="2011680" cy="347472"/>
          </a:xfrm>
          <a:prstGeom prst="rect">
            <a:avLst/>
          </a:prstGeom>
          <a:noFill/>
          <a:ln/>
        </p:spPr>
        <p:txBody>
          <a:bodyPr wrap="square"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=COPILOT() Function</a:t>
            </a:r>
            <a:endParaRPr lang="en-US" sz="1000" dirty="0"/>
          </a:p>
        </p:txBody>
      </p:sp>
      <p:sp>
        <p:nvSpPr>
          <p:cNvPr id="7" name="Text 5"/>
          <p:cNvSpPr/>
          <p:nvPr/>
        </p:nvSpPr>
        <p:spPr>
          <a:xfrm>
            <a:off x="548640" y="777240"/>
            <a:ext cx="8046720" cy="457200"/>
          </a:xfrm>
          <a:prstGeom prst="rect">
            <a:avLst/>
          </a:prstGeom>
          <a:noFill/>
          <a:ln/>
        </p:spPr>
        <p:txBody>
          <a:bodyPr wrap="square" lIns="0" tIns="0" rIns="0" bIns="0" rtlCol="0" anchor="ctr"/>
          <a:lstStyle/>
          <a:p>
            <a:pPr marL="0" indent="0">
              <a:buNone/>
            </a:pPr>
            <a:r>
              <a:rPr lang="en-US" sz="2200" b="1" dirty="0">
                <a:solidFill>
                  <a:srgbClr val="1E293B"/>
                </a:solidFill>
                <a:latin typeface="Trebuchet MS" pitchFamily="34" charset="0"/>
                <a:ea typeface="Trebuchet MS" pitchFamily="34" charset="-122"/>
                <a:cs typeface="Trebuchet MS" pitchFamily="34" charset="-120"/>
              </a:rPr>
              <a:t>=COPILOT() Formula: Scenarios &amp; Executive Summaries</a:t>
            </a:r>
            <a:endParaRPr lang="en-US" sz="2200" dirty="0"/>
          </a:p>
        </p:txBody>
      </p:sp>
      <p:pic>
        <p:nvPicPr>
          <p:cNvPr id="8" name="Image 0" descr="preencoded.png"/>
          <p:cNvPicPr>
            <a:picLocks noChangeAspect="1"/>
          </p:cNvPicPr>
          <p:nvPr/>
        </p:nvPicPr>
        <p:blipFill>
          <a:blip r:embed="rId3"/>
          <a:stretch>
            <a:fillRect/>
          </a:stretch>
        </p:blipFill>
        <p:spPr>
          <a:xfrm>
            <a:off x="548640" y="1417320"/>
            <a:ext cx="274320" cy="274320"/>
          </a:xfrm>
          <a:prstGeom prst="rect">
            <a:avLst/>
          </a:prstGeom>
        </p:spPr>
      </p:pic>
      <p:sp>
        <p:nvSpPr>
          <p:cNvPr id="9" name="Text 6"/>
          <p:cNvSpPr/>
          <p:nvPr/>
        </p:nvSpPr>
        <p:spPr>
          <a:xfrm>
            <a:off x="914400" y="141732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WHAT YOU'LL DO</a:t>
            </a:r>
            <a:endParaRPr lang="en-US" sz="1000" dirty="0"/>
          </a:p>
        </p:txBody>
      </p:sp>
      <p:sp>
        <p:nvSpPr>
          <p:cNvPr id="10" name="Text 7"/>
          <p:cNvSpPr/>
          <p:nvPr/>
        </p:nvSpPr>
        <p:spPr>
          <a:xfrm>
            <a:off x="548640" y="1737360"/>
            <a:ext cx="4754880" cy="822960"/>
          </a:xfrm>
          <a:prstGeom prst="rect">
            <a:avLst/>
          </a:prstGeom>
          <a:noFill/>
          <a:ln/>
        </p:spPr>
        <p:txBody>
          <a:bodyPr wrap="square" lIns="0" tIns="0" rIns="0" bIns="0" rtlCol="0" anchor="ctr"/>
          <a:lstStyle/>
          <a:p>
            <a:pPr marL="0" indent="0">
              <a:lnSpc>
                <a:spcPct val="135000"/>
              </a:lnSpc>
              <a:buNone/>
            </a:pPr>
            <a:r>
              <a:rPr lang="en-US" sz="1100" dirty="0">
                <a:solidFill>
                  <a:srgbClr val="64748B"/>
                </a:solidFill>
                <a:latin typeface="Calibri" pitchFamily="34" charset="0"/>
                <a:ea typeface="Calibri" pitchFamily="34" charset="-122"/>
                <a:cs typeface="Calibri" pitchFamily="34" charset="-120"/>
              </a:rPr>
              <a:t>Use =COPILOT() to generate optimistic/base/pessimistic forecasts and write CFO-ready performance summaries — all inside Excel cells, referencing your data ranges.</a:t>
            </a:r>
            <a:endParaRPr lang="en-US" sz="1100" dirty="0"/>
          </a:p>
        </p:txBody>
      </p:sp>
      <p:sp>
        <p:nvSpPr>
          <p:cNvPr id="11" name="Text 8"/>
          <p:cNvSpPr/>
          <p:nvPr/>
        </p:nvSpPr>
        <p:spPr>
          <a:xfrm>
            <a:off x="548640" y="2606040"/>
            <a:ext cx="2743200" cy="22860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PROMPT TO TRY</a:t>
            </a:r>
            <a:endParaRPr lang="en-US" sz="1000" dirty="0"/>
          </a:p>
        </p:txBody>
      </p:sp>
      <p:sp>
        <p:nvSpPr>
          <p:cNvPr id="12" name="Shape 9"/>
          <p:cNvSpPr/>
          <p:nvPr/>
        </p:nvSpPr>
        <p:spPr>
          <a:xfrm>
            <a:off x="548640" y="2880360"/>
            <a:ext cx="4754880" cy="1188720"/>
          </a:xfrm>
          <a:prstGeom prst="rect">
            <a:avLst/>
          </a:prstGeom>
          <a:solidFill>
            <a:srgbClr val="F1F5F9"/>
          </a:solidFill>
          <a:ln/>
        </p:spPr>
        <p:txBody>
          <a:bodyPr/>
          <a:lstStyle/>
          <a:p>
            <a:endParaRPr lang="en-NL"/>
          </a:p>
        </p:txBody>
      </p:sp>
      <p:sp>
        <p:nvSpPr>
          <p:cNvPr id="13" name="Shape 10"/>
          <p:cNvSpPr/>
          <p:nvPr/>
        </p:nvSpPr>
        <p:spPr>
          <a:xfrm>
            <a:off x="548640" y="2880360"/>
            <a:ext cx="54864" cy="1188720"/>
          </a:xfrm>
          <a:prstGeom prst="rect">
            <a:avLst/>
          </a:prstGeom>
          <a:solidFill>
            <a:srgbClr val="0D9488"/>
          </a:solidFill>
          <a:ln/>
        </p:spPr>
        <p:txBody>
          <a:bodyPr/>
          <a:lstStyle/>
          <a:p>
            <a:endParaRPr lang="en-NL"/>
          </a:p>
        </p:txBody>
      </p:sp>
      <p:sp>
        <p:nvSpPr>
          <p:cNvPr id="14" name="Text 11"/>
          <p:cNvSpPr/>
          <p:nvPr/>
        </p:nvSpPr>
        <p:spPr>
          <a:xfrm>
            <a:off x="731520" y="2926080"/>
            <a:ext cx="4434840" cy="1097280"/>
          </a:xfrm>
          <a:prstGeom prst="rect">
            <a:avLst/>
          </a:prstGeom>
          <a:noFill/>
          <a:ln/>
        </p:spPr>
        <p:txBody>
          <a:bodyPr wrap="square" lIns="0" tIns="0" rIns="0" bIns="0" rtlCol="0" anchor="ctr"/>
          <a:lstStyle/>
          <a:p>
            <a:pPr marL="0" indent="0">
              <a:lnSpc>
                <a:spcPct val="130000"/>
              </a:lnSpc>
              <a:buNone/>
            </a:pPr>
            <a:r>
              <a:rPr lang="en-US" sz="950" dirty="0">
                <a:solidFill>
                  <a:srgbClr val="1E293B"/>
                </a:solidFill>
                <a:latin typeface="Consolas" pitchFamily="34" charset="0"/>
                <a:ea typeface="Consolas" pitchFamily="34" charset="-122"/>
                <a:cs typeface="Consolas" pitchFamily="34" charset="-120"/>
              </a:rPr>
              <a:t>=COPILOT("Generate optimistic, base, and pessimistic forecasts", B3:H15)</a:t>
            </a:r>
            <a:endParaRPr lang="en-US" sz="950" dirty="0"/>
          </a:p>
          <a:p>
            <a:pPr marL="0" indent="0">
              <a:lnSpc>
                <a:spcPct val="130000"/>
              </a:lnSpc>
              <a:buNone/>
            </a:pPr>
            <a:r>
              <a:rPr lang="en-US" sz="950" dirty="0">
                <a:solidFill>
                  <a:srgbClr val="1E293B"/>
                </a:solidFill>
                <a:latin typeface="Consolas" pitchFamily="34" charset="0"/>
                <a:ea typeface="Consolas" pitchFamily="34" charset="-122"/>
                <a:cs typeface="Consolas" pitchFamily="34" charset="-120"/>
              </a:rPr>
              <a:t>=COPILOT("Summarize financial performance highlights for the CFO", B3:H20)</a:t>
            </a:r>
            <a:endParaRPr lang="en-US" sz="950" dirty="0"/>
          </a:p>
          <a:p>
            <a:pPr marL="0" indent="0">
              <a:lnSpc>
                <a:spcPct val="130000"/>
              </a:lnSpc>
              <a:buNone/>
            </a:pPr>
            <a:r>
              <a:rPr lang="en-US" sz="950" dirty="0">
                <a:solidFill>
                  <a:srgbClr val="1E293B"/>
                </a:solidFill>
                <a:latin typeface="Consolas" pitchFamily="34" charset="0"/>
                <a:ea typeface="Consolas" pitchFamily="34" charset="-122"/>
                <a:cs typeface="Consolas" pitchFamily="34" charset="-120"/>
              </a:rPr>
              <a:t>=COPILOT("Identify top 3 expense drivers and their impact on EBITDA margin", B3:H15)</a:t>
            </a:r>
            <a:endParaRPr lang="en-US" sz="950" dirty="0"/>
          </a:p>
        </p:txBody>
      </p:sp>
      <p:sp>
        <p:nvSpPr>
          <p:cNvPr id="15" name="Shape 12"/>
          <p:cNvSpPr/>
          <p:nvPr/>
        </p:nvSpPr>
        <p:spPr>
          <a:xfrm>
            <a:off x="5669280" y="1417320"/>
            <a:ext cx="3108960" cy="2651760"/>
          </a:xfrm>
          <a:prstGeom prst="rect">
            <a:avLst/>
          </a:prstGeom>
          <a:solidFill>
            <a:srgbClr val="0F1B2D"/>
          </a:solidFill>
          <a:ln/>
        </p:spPr>
        <p:txBody>
          <a:bodyPr/>
          <a:lstStyle/>
          <a:p>
            <a:endParaRPr lang="en-NL"/>
          </a:p>
        </p:txBody>
      </p:sp>
      <p:sp>
        <p:nvSpPr>
          <p:cNvPr id="16" name="Text 13"/>
          <p:cNvSpPr/>
          <p:nvPr/>
        </p:nvSpPr>
        <p:spPr>
          <a:xfrm>
            <a:off x="5852160" y="155448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SKILLS YOU'LL BUILD</a:t>
            </a:r>
            <a:endParaRPr lang="en-US" sz="1000" dirty="0"/>
          </a:p>
        </p:txBody>
      </p:sp>
      <p:sp>
        <p:nvSpPr>
          <p:cNvPr id="17" name="Text 14"/>
          <p:cNvSpPr/>
          <p:nvPr/>
        </p:nvSpPr>
        <p:spPr>
          <a:xfrm>
            <a:off x="5852160" y="1874520"/>
            <a:ext cx="2743200" cy="1645920"/>
          </a:xfrm>
          <a:prstGeom prst="rect">
            <a:avLst/>
          </a:prstGeom>
          <a:noFill/>
          <a:ln/>
        </p:spPr>
        <p:txBody>
          <a:bodyPr wrap="square" rtlCol="0" anchor="ctr"/>
          <a:lstStyle/>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Scenario planning with AI</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Executive summary generation</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Cost driver analysis</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Communicating financial insights with AI</a:t>
            </a:r>
            <a:endParaRPr lang="en-US" sz="1100" dirty="0"/>
          </a:p>
        </p:txBody>
      </p:sp>
      <p:sp>
        <p:nvSpPr>
          <p:cNvPr id="18" name="Shape 15"/>
          <p:cNvSpPr/>
          <p:nvPr/>
        </p:nvSpPr>
        <p:spPr>
          <a:xfrm>
            <a:off x="548640" y="4251960"/>
            <a:ext cx="8046720" cy="457200"/>
          </a:xfrm>
          <a:prstGeom prst="rect">
            <a:avLst/>
          </a:prstGeom>
          <a:solidFill>
            <a:srgbClr val="E0F2FE"/>
          </a:solidFill>
          <a:ln/>
        </p:spPr>
        <p:txBody>
          <a:bodyPr/>
          <a:lstStyle/>
          <a:p>
            <a:endParaRPr lang="en-NL"/>
          </a:p>
        </p:txBody>
      </p:sp>
      <p:pic>
        <p:nvPicPr>
          <p:cNvPr id="19" name="Image 1" descr="preencoded.png"/>
          <p:cNvPicPr>
            <a:picLocks noChangeAspect="1"/>
          </p:cNvPicPr>
          <p:nvPr/>
        </p:nvPicPr>
        <p:blipFill>
          <a:blip r:embed="rId4"/>
          <a:stretch>
            <a:fillRect/>
          </a:stretch>
        </p:blipFill>
        <p:spPr>
          <a:xfrm>
            <a:off x="685800" y="4315968"/>
            <a:ext cx="274320" cy="274320"/>
          </a:xfrm>
          <a:prstGeom prst="rect">
            <a:avLst/>
          </a:prstGeom>
        </p:spPr>
      </p:pic>
      <p:sp>
        <p:nvSpPr>
          <p:cNvPr id="20" name="Text 16"/>
          <p:cNvSpPr/>
          <p:nvPr/>
        </p:nvSpPr>
        <p:spPr>
          <a:xfrm>
            <a:off x="1051560" y="4251960"/>
            <a:ext cx="7315200" cy="45720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WORKBOOK:  Copilot_Formula_Dataset_and_prompts.xlsx</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NL"/>
          </a:p>
        </p:txBody>
      </p:sp>
      <p:sp>
        <p:nvSpPr>
          <p:cNvPr id="3" name="Shape 1"/>
          <p:cNvSpPr/>
          <p:nvPr/>
        </p:nvSpPr>
        <p:spPr>
          <a:xfrm>
            <a:off x="548640" y="274320"/>
            <a:ext cx="914400" cy="347472"/>
          </a:xfrm>
          <a:prstGeom prst="rect">
            <a:avLst/>
          </a:prstGeom>
          <a:solidFill>
            <a:srgbClr val="0F1B2D"/>
          </a:solidFill>
          <a:ln/>
        </p:spPr>
        <p:txBody>
          <a:bodyPr/>
          <a:lstStyle/>
          <a:p>
            <a:endParaRPr lang="en-NL"/>
          </a:p>
        </p:txBody>
      </p:sp>
      <p:sp>
        <p:nvSpPr>
          <p:cNvPr id="4" name="Text 2"/>
          <p:cNvSpPr/>
          <p:nvPr/>
        </p:nvSpPr>
        <p:spPr>
          <a:xfrm>
            <a:off x="548640" y="274320"/>
            <a:ext cx="914400" cy="347472"/>
          </a:xfrm>
          <a:prstGeom prst="rect">
            <a:avLst/>
          </a:prstGeom>
          <a:noFill/>
          <a:ln/>
        </p:spPr>
        <p:txBody>
          <a:bodyPr wrap="square" rtlCol="0" anchor="ctr"/>
          <a:lstStyle/>
          <a:p>
            <a:pPr marL="0" indent="0" algn="ctr">
              <a:buNone/>
            </a:pPr>
            <a:r>
              <a:rPr lang="en-US" sz="1200" b="1" dirty="0">
                <a:solidFill>
                  <a:srgbClr val="0D9488"/>
                </a:solidFill>
                <a:latin typeface="Trebuchet MS" pitchFamily="34" charset="0"/>
                <a:ea typeface="Trebuchet MS" pitchFamily="34" charset="-122"/>
                <a:cs typeface="Trebuchet MS" pitchFamily="34" charset="-120"/>
              </a:rPr>
              <a:t>DAY 6</a:t>
            </a:r>
            <a:endParaRPr lang="en-US" sz="1200" dirty="0"/>
          </a:p>
        </p:txBody>
      </p:sp>
      <p:sp>
        <p:nvSpPr>
          <p:cNvPr id="5" name="Shape 3"/>
          <p:cNvSpPr/>
          <p:nvPr/>
        </p:nvSpPr>
        <p:spPr>
          <a:xfrm>
            <a:off x="1554480" y="274320"/>
            <a:ext cx="2011680" cy="347472"/>
          </a:xfrm>
          <a:prstGeom prst="rect">
            <a:avLst/>
          </a:prstGeom>
          <a:solidFill>
            <a:srgbClr val="E0F2FE"/>
          </a:solidFill>
          <a:ln/>
        </p:spPr>
        <p:txBody>
          <a:bodyPr/>
          <a:lstStyle/>
          <a:p>
            <a:endParaRPr lang="en-NL"/>
          </a:p>
        </p:txBody>
      </p:sp>
      <p:sp>
        <p:nvSpPr>
          <p:cNvPr id="6" name="Text 4"/>
          <p:cNvSpPr/>
          <p:nvPr/>
        </p:nvSpPr>
        <p:spPr>
          <a:xfrm>
            <a:off x="1554480" y="274320"/>
            <a:ext cx="2011680" cy="347472"/>
          </a:xfrm>
          <a:prstGeom prst="rect">
            <a:avLst/>
          </a:prstGeom>
          <a:noFill/>
          <a:ln/>
        </p:spPr>
        <p:txBody>
          <a:bodyPr wrap="square"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Python in Excel</a:t>
            </a:r>
            <a:endParaRPr lang="en-US" sz="1000" dirty="0"/>
          </a:p>
        </p:txBody>
      </p:sp>
      <p:sp>
        <p:nvSpPr>
          <p:cNvPr id="7" name="Text 5"/>
          <p:cNvSpPr/>
          <p:nvPr/>
        </p:nvSpPr>
        <p:spPr>
          <a:xfrm>
            <a:off x="548640" y="777240"/>
            <a:ext cx="8046720" cy="457200"/>
          </a:xfrm>
          <a:prstGeom prst="rect">
            <a:avLst/>
          </a:prstGeom>
          <a:noFill/>
          <a:ln/>
        </p:spPr>
        <p:txBody>
          <a:bodyPr wrap="square" lIns="0" tIns="0" rIns="0" bIns="0" rtlCol="0" anchor="ctr"/>
          <a:lstStyle/>
          <a:p>
            <a:pPr marL="0" indent="0">
              <a:buNone/>
            </a:pPr>
            <a:r>
              <a:rPr lang="en-US" sz="2200" b="1" dirty="0">
                <a:solidFill>
                  <a:srgbClr val="1E293B"/>
                </a:solidFill>
                <a:latin typeface="Trebuchet MS" pitchFamily="34" charset="0"/>
                <a:ea typeface="Trebuchet MS" pitchFamily="34" charset="-122"/>
                <a:cs typeface="Trebuchet MS" pitchFamily="34" charset="-120"/>
              </a:rPr>
              <a:t>Python in Excel: Unpivot &amp; Transform Data</a:t>
            </a:r>
            <a:endParaRPr lang="en-US" sz="2200" dirty="0"/>
          </a:p>
        </p:txBody>
      </p:sp>
      <p:pic>
        <p:nvPicPr>
          <p:cNvPr id="8" name="Image 0" descr="preencoded.png"/>
          <p:cNvPicPr>
            <a:picLocks noChangeAspect="1"/>
          </p:cNvPicPr>
          <p:nvPr/>
        </p:nvPicPr>
        <p:blipFill>
          <a:blip r:embed="rId3"/>
          <a:stretch>
            <a:fillRect/>
          </a:stretch>
        </p:blipFill>
        <p:spPr>
          <a:xfrm>
            <a:off x="548640" y="1417320"/>
            <a:ext cx="274320" cy="274320"/>
          </a:xfrm>
          <a:prstGeom prst="rect">
            <a:avLst/>
          </a:prstGeom>
        </p:spPr>
      </p:pic>
      <p:sp>
        <p:nvSpPr>
          <p:cNvPr id="9" name="Text 6"/>
          <p:cNvSpPr/>
          <p:nvPr/>
        </p:nvSpPr>
        <p:spPr>
          <a:xfrm>
            <a:off x="914400" y="141732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WHAT YOU'LL DO</a:t>
            </a:r>
            <a:endParaRPr lang="en-US" sz="1000" dirty="0"/>
          </a:p>
        </p:txBody>
      </p:sp>
      <p:sp>
        <p:nvSpPr>
          <p:cNvPr id="10" name="Text 7"/>
          <p:cNvSpPr/>
          <p:nvPr/>
        </p:nvSpPr>
        <p:spPr>
          <a:xfrm>
            <a:off x="548640" y="1737360"/>
            <a:ext cx="4754880" cy="822960"/>
          </a:xfrm>
          <a:prstGeom prst="rect">
            <a:avLst/>
          </a:prstGeom>
          <a:noFill/>
          <a:ln/>
        </p:spPr>
        <p:txBody>
          <a:bodyPr wrap="square" lIns="0" tIns="0" rIns="0" bIns="0" rtlCol="0" anchor="ctr"/>
          <a:lstStyle/>
          <a:p>
            <a:pPr marL="0" indent="0">
              <a:lnSpc>
                <a:spcPct val="135000"/>
              </a:lnSpc>
              <a:buNone/>
            </a:pPr>
            <a:r>
              <a:rPr lang="en-US" sz="1100" dirty="0">
                <a:solidFill>
                  <a:srgbClr val="64748B"/>
                </a:solidFill>
                <a:latin typeface="Calibri" pitchFamily="34" charset="0"/>
                <a:ea typeface="Calibri" pitchFamily="34" charset="-122"/>
                <a:cs typeface="Calibri" pitchFamily="34" charset="-120"/>
              </a:rPr>
              <a:t>Use Python in Excel to transform wide-format financial data (columns as months) into long-format (rows) — a critical FP&amp;A data prep skill that's painful with formulas alone.</a:t>
            </a:r>
            <a:endParaRPr lang="en-US" sz="1100" dirty="0"/>
          </a:p>
        </p:txBody>
      </p:sp>
      <p:sp>
        <p:nvSpPr>
          <p:cNvPr id="11" name="Text 8"/>
          <p:cNvSpPr/>
          <p:nvPr/>
        </p:nvSpPr>
        <p:spPr>
          <a:xfrm>
            <a:off x="548640" y="2606040"/>
            <a:ext cx="2743200" cy="22860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PROMPT TO TRY</a:t>
            </a:r>
            <a:endParaRPr lang="en-US" sz="1000" dirty="0"/>
          </a:p>
        </p:txBody>
      </p:sp>
      <p:sp>
        <p:nvSpPr>
          <p:cNvPr id="12" name="Shape 9"/>
          <p:cNvSpPr/>
          <p:nvPr/>
        </p:nvSpPr>
        <p:spPr>
          <a:xfrm>
            <a:off x="548640" y="2880360"/>
            <a:ext cx="4754880" cy="1188720"/>
          </a:xfrm>
          <a:prstGeom prst="rect">
            <a:avLst/>
          </a:prstGeom>
          <a:solidFill>
            <a:srgbClr val="F1F5F9"/>
          </a:solidFill>
          <a:ln/>
        </p:spPr>
        <p:txBody>
          <a:bodyPr/>
          <a:lstStyle/>
          <a:p>
            <a:endParaRPr lang="en-NL"/>
          </a:p>
        </p:txBody>
      </p:sp>
      <p:sp>
        <p:nvSpPr>
          <p:cNvPr id="13" name="Shape 10"/>
          <p:cNvSpPr/>
          <p:nvPr/>
        </p:nvSpPr>
        <p:spPr>
          <a:xfrm>
            <a:off x="548640" y="2880360"/>
            <a:ext cx="54864" cy="1188720"/>
          </a:xfrm>
          <a:prstGeom prst="rect">
            <a:avLst/>
          </a:prstGeom>
          <a:solidFill>
            <a:srgbClr val="0D9488"/>
          </a:solidFill>
          <a:ln/>
        </p:spPr>
        <p:txBody>
          <a:bodyPr/>
          <a:lstStyle/>
          <a:p>
            <a:endParaRPr lang="en-NL"/>
          </a:p>
        </p:txBody>
      </p:sp>
      <p:sp>
        <p:nvSpPr>
          <p:cNvPr id="14" name="Text 11"/>
          <p:cNvSpPr/>
          <p:nvPr/>
        </p:nvSpPr>
        <p:spPr>
          <a:xfrm>
            <a:off x="731520" y="2926080"/>
            <a:ext cx="4434840" cy="1097280"/>
          </a:xfrm>
          <a:prstGeom prst="rect">
            <a:avLst/>
          </a:prstGeom>
          <a:noFill/>
          <a:ln/>
        </p:spPr>
        <p:txBody>
          <a:bodyPr wrap="square" lIns="0" tIns="0" rIns="0" bIns="0" rtlCol="0" anchor="ctr"/>
          <a:lstStyle/>
          <a:p>
            <a:pPr marL="0" indent="0">
              <a:lnSpc>
                <a:spcPct val="130000"/>
              </a:lnSpc>
              <a:buNone/>
            </a:pPr>
            <a:r>
              <a:rPr lang="en-US" sz="950" dirty="0">
                <a:solidFill>
                  <a:srgbClr val="1E293B"/>
                </a:solidFill>
                <a:latin typeface="Consolas" pitchFamily="34" charset="0"/>
                <a:ea typeface="Consolas" pitchFamily="34" charset="-122"/>
                <a:cs typeface="Consolas" pitchFamily="34" charset="-120"/>
              </a:rPr>
              <a:t>Use =PY() cells to run pandas melt() on cross-tab revenue data. Transform Business Unit × Month columns into a clean 4-column table: Business Unit, Product Category, Month, Value.</a:t>
            </a:r>
            <a:endParaRPr lang="en-US" sz="950" dirty="0"/>
          </a:p>
        </p:txBody>
      </p:sp>
      <p:sp>
        <p:nvSpPr>
          <p:cNvPr id="15" name="Shape 12"/>
          <p:cNvSpPr/>
          <p:nvPr/>
        </p:nvSpPr>
        <p:spPr>
          <a:xfrm>
            <a:off x="5669280" y="1417320"/>
            <a:ext cx="3108960" cy="2651760"/>
          </a:xfrm>
          <a:prstGeom prst="rect">
            <a:avLst/>
          </a:prstGeom>
          <a:solidFill>
            <a:srgbClr val="0F1B2D"/>
          </a:solidFill>
          <a:ln/>
        </p:spPr>
        <p:txBody>
          <a:bodyPr/>
          <a:lstStyle/>
          <a:p>
            <a:endParaRPr lang="en-NL"/>
          </a:p>
        </p:txBody>
      </p:sp>
      <p:sp>
        <p:nvSpPr>
          <p:cNvPr id="16" name="Text 13"/>
          <p:cNvSpPr/>
          <p:nvPr/>
        </p:nvSpPr>
        <p:spPr>
          <a:xfrm>
            <a:off x="5852160" y="155448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SKILLS YOU'LL BUILD</a:t>
            </a:r>
            <a:endParaRPr lang="en-US" sz="1000" dirty="0"/>
          </a:p>
        </p:txBody>
      </p:sp>
      <p:sp>
        <p:nvSpPr>
          <p:cNvPr id="17" name="Text 14"/>
          <p:cNvSpPr/>
          <p:nvPr/>
        </p:nvSpPr>
        <p:spPr>
          <a:xfrm>
            <a:off x="5852160" y="1874520"/>
            <a:ext cx="2743200" cy="1645920"/>
          </a:xfrm>
          <a:prstGeom prst="rect">
            <a:avLst/>
          </a:prstGeom>
          <a:noFill/>
          <a:ln/>
        </p:spPr>
        <p:txBody>
          <a:bodyPr wrap="square" rtlCol="0" anchor="ctr"/>
          <a:lstStyle/>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Python in Excel =PY() syntax</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pandas DataFrame manipulation</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Unpivot / melt operations</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Data reshaping for analysis &amp; reporting</a:t>
            </a:r>
            <a:endParaRPr lang="en-US" sz="1100" dirty="0"/>
          </a:p>
        </p:txBody>
      </p:sp>
      <p:sp>
        <p:nvSpPr>
          <p:cNvPr id="18" name="Shape 15"/>
          <p:cNvSpPr/>
          <p:nvPr/>
        </p:nvSpPr>
        <p:spPr>
          <a:xfrm>
            <a:off x="548640" y="4251960"/>
            <a:ext cx="8046720" cy="457200"/>
          </a:xfrm>
          <a:prstGeom prst="rect">
            <a:avLst/>
          </a:prstGeom>
          <a:solidFill>
            <a:srgbClr val="E0F2FE"/>
          </a:solidFill>
          <a:ln/>
        </p:spPr>
        <p:txBody>
          <a:bodyPr/>
          <a:lstStyle/>
          <a:p>
            <a:endParaRPr lang="en-NL"/>
          </a:p>
        </p:txBody>
      </p:sp>
      <p:pic>
        <p:nvPicPr>
          <p:cNvPr id="19" name="Image 1" descr="preencoded.png"/>
          <p:cNvPicPr>
            <a:picLocks noChangeAspect="1"/>
          </p:cNvPicPr>
          <p:nvPr/>
        </p:nvPicPr>
        <p:blipFill>
          <a:blip r:embed="rId4"/>
          <a:stretch>
            <a:fillRect/>
          </a:stretch>
        </p:blipFill>
        <p:spPr>
          <a:xfrm>
            <a:off x="685800" y="4315968"/>
            <a:ext cx="274320" cy="274320"/>
          </a:xfrm>
          <a:prstGeom prst="rect">
            <a:avLst/>
          </a:prstGeom>
        </p:spPr>
      </p:pic>
      <p:sp>
        <p:nvSpPr>
          <p:cNvPr id="20" name="Text 16"/>
          <p:cNvSpPr/>
          <p:nvPr/>
        </p:nvSpPr>
        <p:spPr>
          <a:xfrm>
            <a:off x="1051560" y="4251960"/>
            <a:ext cx="7315200" cy="45720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WORKBOOK:  Python_Tricks_for_FP_A.xlsx</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NL"/>
          </a:p>
        </p:txBody>
      </p:sp>
      <p:sp>
        <p:nvSpPr>
          <p:cNvPr id="3" name="Shape 1"/>
          <p:cNvSpPr/>
          <p:nvPr/>
        </p:nvSpPr>
        <p:spPr>
          <a:xfrm>
            <a:off x="548640" y="274320"/>
            <a:ext cx="914400" cy="347472"/>
          </a:xfrm>
          <a:prstGeom prst="rect">
            <a:avLst/>
          </a:prstGeom>
          <a:solidFill>
            <a:srgbClr val="0F1B2D"/>
          </a:solidFill>
          <a:ln/>
        </p:spPr>
        <p:txBody>
          <a:bodyPr/>
          <a:lstStyle/>
          <a:p>
            <a:endParaRPr lang="en-NL"/>
          </a:p>
        </p:txBody>
      </p:sp>
      <p:sp>
        <p:nvSpPr>
          <p:cNvPr id="4" name="Text 2"/>
          <p:cNvSpPr/>
          <p:nvPr/>
        </p:nvSpPr>
        <p:spPr>
          <a:xfrm>
            <a:off x="548640" y="274320"/>
            <a:ext cx="914400" cy="347472"/>
          </a:xfrm>
          <a:prstGeom prst="rect">
            <a:avLst/>
          </a:prstGeom>
          <a:noFill/>
          <a:ln/>
        </p:spPr>
        <p:txBody>
          <a:bodyPr wrap="square" rtlCol="0" anchor="ctr"/>
          <a:lstStyle/>
          <a:p>
            <a:pPr marL="0" indent="0" algn="ctr">
              <a:buNone/>
            </a:pPr>
            <a:r>
              <a:rPr lang="en-US" sz="1200" b="1" dirty="0">
                <a:solidFill>
                  <a:srgbClr val="0D9488"/>
                </a:solidFill>
                <a:latin typeface="Trebuchet MS" pitchFamily="34" charset="0"/>
                <a:ea typeface="Trebuchet MS" pitchFamily="34" charset="-122"/>
                <a:cs typeface="Trebuchet MS" pitchFamily="34" charset="-120"/>
              </a:rPr>
              <a:t>DAY 7</a:t>
            </a:r>
            <a:endParaRPr lang="en-US" sz="1200" dirty="0"/>
          </a:p>
        </p:txBody>
      </p:sp>
      <p:sp>
        <p:nvSpPr>
          <p:cNvPr id="5" name="Shape 3"/>
          <p:cNvSpPr/>
          <p:nvPr/>
        </p:nvSpPr>
        <p:spPr>
          <a:xfrm>
            <a:off x="1554480" y="274320"/>
            <a:ext cx="2011680" cy="347472"/>
          </a:xfrm>
          <a:prstGeom prst="rect">
            <a:avLst/>
          </a:prstGeom>
          <a:solidFill>
            <a:srgbClr val="E0F2FE"/>
          </a:solidFill>
          <a:ln/>
        </p:spPr>
        <p:txBody>
          <a:bodyPr/>
          <a:lstStyle/>
          <a:p>
            <a:endParaRPr lang="en-NL"/>
          </a:p>
        </p:txBody>
      </p:sp>
      <p:sp>
        <p:nvSpPr>
          <p:cNvPr id="6" name="Text 4"/>
          <p:cNvSpPr/>
          <p:nvPr/>
        </p:nvSpPr>
        <p:spPr>
          <a:xfrm>
            <a:off x="1554480" y="274320"/>
            <a:ext cx="2011680" cy="347472"/>
          </a:xfrm>
          <a:prstGeom prst="rect">
            <a:avLst/>
          </a:prstGeom>
          <a:noFill/>
          <a:ln/>
        </p:spPr>
        <p:txBody>
          <a:bodyPr wrap="square"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Python in Excel</a:t>
            </a:r>
            <a:endParaRPr lang="en-US" sz="1000" dirty="0"/>
          </a:p>
        </p:txBody>
      </p:sp>
      <p:sp>
        <p:nvSpPr>
          <p:cNvPr id="7" name="Text 5"/>
          <p:cNvSpPr/>
          <p:nvPr/>
        </p:nvSpPr>
        <p:spPr>
          <a:xfrm>
            <a:off x="548640" y="777240"/>
            <a:ext cx="8046720" cy="457200"/>
          </a:xfrm>
          <a:prstGeom prst="rect">
            <a:avLst/>
          </a:prstGeom>
          <a:noFill/>
          <a:ln/>
        </p:spPr>
        <p:txBody>
          <a:bodyPr wrap="square" lIns="0" tIns="0" rIns="0" bIns="0" rtlCol="0" anchor="ctr"/>
          <a:lstStyle/>
          <a:p>
            <a:pPr marL="0" indent="0">
              <a:buNone/>
            </a:pPr>
            <a:r>
              <a:rPr lang="en-US" sz="2200" b="1" dirty="0">
                <a:solidFill>
                  <a:srgbClr val="1E293B"/>
                </a:solidFill>
                <a:latin typeface="Trebuchet MS" pitchFamily="34" charset="0"/>
                <a:ea typeface="Trebuchet MS" pitchFamily="34" charset="-122"/>
                <a:cs typeface="Trebuchet MS" pitchFamily="34" charset="-120"/>
              </a:rPr>
              <a:t>Python in Excel: Headcount &amp; Salary Analysis</a:t>
            </a:r>
            <a:endParaRPr lang="en-US" sz="2200" dirty="0"/>
          </a:p>
        </p:txBody>
      </p:sp>
      <p:pic>
        <p:nvPicPr>
          <p:cNvPr id="8" name="Image 0" descr="preencoded.png"/>
          <p:cNvPicPr>
            <a:picLocks noChangeAspect="1"/>
          </p:cNvPicPr>
          <p:nvPr/>
        </p:nvPicPr>
        <p:blipFill>
          <a:blip r:embed="rId3"/>
          <a:stretch>
            <a:fillRect/>
          </a:stretch>
        </p:blipFill>
        <p:spPr>
          <a:xfrm>
            <a:off x="548640" y="1417320"/>
            <a:ext cx="274320" cy="274320"/>
          </a:xfrm>
          <a:prstGeom prst="rect">
            <a:avLst/>
          </a:prstGeom>
        </p:spPr>
      </p:pic>
      <p:sp>
        <p:nvSpPr>
          <p:cNvPr id="9" name="Text 6"/>
          <p:cNvSpPr/>
          <p:nvPr/>
        </p:nvSpPr>
        <p:spPr>
          <a:xfrm>
            <a:off x="914400" y="141732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WHAT YOU'LL DO</a:t>
            </a:r>
            <a:endParaRPr lang="en-US" sz="1000" dirty="0"/>
          </a:p>
        </p:txBody>
      </p:sp>
      <p:sp>
        <p:nvSpPr>
          <p:cNvPr id="10" name="Text 7"/>
          <p:cNvSpPr/>
          <p:nvPr/>
        </p:nvSpPr>
        <p:spPr>
          <a:xfrm>
            <a:off x="548640" y="1737360"/>
            <a:ext cx="4754880" cy="822960"/>
          </a:xfrm>
          <a:prstGeom prst="rect">
            <a:avLst/>
          </a:prstGeom>
          <a:noFill/>
          <a:ln/>
        </p:spPr>
        <p:txBody>
          <a:bodyPr wrap="square" lIns="0" tIns="0" rIns="0" bIns="0" rtlCol="0" anchor="ctr"/>
          <a:lstStyle/>
          <a:p>
            <a:pPr marL="0" indent="0">
              <a:lnSpc>
                <a:spcPct val="135000"/>
              </a:lnSpc>
              <a:buNone/>
            </a:pPr>
            <a:r>
              <a:rPr lang="en-US" sz="1100" dirty="0">
                <a:solidFill>
                  <a:srgbClr val="64748B"/>
                </a:solidFill>
                <a:latin typeface="Calibri" pitchFamily="34" charset="0"/>
                <a:ea typeface="Calibri" pitchFamily="34" charset="-122"/>
                <a:cs typeface="Calibri" pitchFamily="34" charset="-120"/>
              </a:rPr>
              <a:t>Analyze 500+ employee records using Python in Excel — compute salary distributions by department, model raise impacts, and create visualizations without leaving Excel.</a:t>
            </a:r>
            <a:endParaRPr lang="en-US" sz="1100" dirty="0"/>
          </a:p>
        </p:txBody>
      </p:sp>
      <p:sp>
        <p:nvSpPr>
          <p:cNvPr id="11" name="Text 8"/>
          <p:cNvSpPr/>
          <p:nvPr/>
        </p:nvSpPr>
        <p:spPr>
          <a:xfrm>
            <a:off x="548640" y="2606040"/>
            <a:ext cx="2743200" cy="22860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PROMPT TO TRY</a:t>
            </a:r>
            <a:endParaRPr lang="en-US" sz="1000" dirty="0"/>
          </a:p>
        </p:txBody>
      </p:sp>
      <p:sp>
        <p:nvSpPr>
          <p:cNvPr id="12" name="Shape 9"/>
          <p:cNvSpPr/>
          <p:nvPr/>
        </p:nvSpPr>
        <p:spPr>
          <a:xfrm>
            <a:off x="548640" y="2880360"/>
            <a:ext cx="4754880" cy="1188720"/>
          </a:xfrm>
          <a:prstGeom prst="rect">
            <a:avLst/>
          </a:prstGeom>
          <a:solidFill>
            <a:srgbClr val="F1F5F9"/>
          </a:solidFill>
          <a:ln/>
        </p:spPr>
        <p:txBody>
          <a:bodyPr/>
          <a:lstStyle/>
          <a:p>
            <a:endParaRPr lang="en-NL"/>
          </a:p>
        </p:txBody>
      </p:sp>
      <p:sp>
        <p:nvSpPr>
          <p:cNvPr id="13" name="Shape 10"/>
          <p:cNvSpPr/>
          <p:nvPr/>
        </p:nvSpPr>
        <p:spPr>
          <a:xfrm>
            <a:off x="548640" y="2880360"/>
            <a:ext cx="54864" cy="1188720"/>
          </a:xfrm>
          <a:prstGeom prst="rect">
            <a:avLst/>
          </a:prstGeom>
          <a:solidFill>
            <a:srgbClr val="0D9488"/>
          </a:solidFill>
          <a:ln/>
        </p:spPr>
        <p:txBody>
          <a:bodyPr/>
          <a:lstStyle/>
          <a:p>
            <a:endParaRPr lang="en-NL"/>
          </a:p>
        </p:txBody>
      </p:sp>
      <p:sp>
        <p:nvSpPr>
          <p:cNvPr id="14" name="Text 11"/>
          <p:cNvSpPr/>
          <p:nvPr/>
        </p:nvSpPr>
        <p:spPr>
          <a:xfrm>
            <a:off x="731520" y="2926080"/>
            <a:ext cx="4434840" cy="1097280"/>
          </a:xfrm>
          <a:prstGeom prst="rect">
            <a:avLst/>
          </a:prstGeom>
          <a:noFill/>
          <a:ln/>
        </p:spPr>
        <p:txBody>
          <a:bodyPr wrap="square" lIns="0" tIns="0" rIns="0" bIns="0" rtlCol="0" anchor="ctr"/>
          <a:lstStyle/>
          <a:p>
            <a:pPr marL="0" indent="0">
              <a:lnSpc>
                <a:spcPct val="130000"/>
              </a:lnSpc>
              <a:buNone/>
            </a:pPr>
            <a:r>
              <a:rPr lang="en-US" sz="950" dirty="0">
                <a:solidFill>
                  <a:srgbClr val="1E293B"/>
                </a:solidFill>
                <a:latin typeface="Consolas" pitchFamily="34" charset="0"/>
                <a:ea typeface="Consolas" pitchFamily="34" charset="-122"/>
                <a:cs typeface="Consolas" pitchFamily="34" charset="-120"/>
              </a:rPr>
              <a:t>Use =PY() to load the headcount table, group by Department, calculate average salary, apply the planned increase, and visualize with matplotlib bar charts and distribution plots.</a:t>
            </a:r>
            <a:endParaRPr lang="en-US" sz="950" dirty="0"/>
          </a:p>
        </p:txBody>
      </p:sp>
      <p:sp>
        <p:nvSpPr>
          <p:cNvPr id="15" name="Shape 12"/>
          <p:cNvSpPr/>
          <p:nvPr/>
        </p:nvSpPr>
        <p:spPr>
          <a:xfrm>
            <a:off x="5669280" y="1417320"/>
            <a:ext cx="3108960" cy="2651760"/>
          </a:xfrm>
          <a:prstGeom prst="rect">
            <a:avLst/>
          </a:prstGeom>
          <a:solidFill>
            <a:srgbClr val="0F1B2D"/>
          </a:solidFill>
          <a:ln/>
        </p:spPr>
        <p:txBody>
          <a:bodyPr/>
          <a:lstStyle/>
          <a:p>
            <a:endParaRPr lang="en-NL"/>
          </a:p>
        </p:txBody>
      </p:sp>
      <p:sp>
        <p:nvSpPr>
          <p:cNvPr id="16" name="Text 13"/>
          <p:cNvSpPr/>
          <p:nvPr/>
        </p:nvSpPr>
        <p:spPr>
          <a:xfrm>
            <a:off x="5852160" y="155448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SKILLS YOU'LL BUILD</a:t>
            </a:r>
            <a:endParaRPr lang="en-US" sz="1000" dirty="0"/>
          </a:p>
        </p:txBody>
      </p:sp>
      <p:sp>
        <p:nvSpPr>
          <p:cNvPr id="17" name="Text 14"/>
          <p:cNvSpPr/>
          <p:nvPr/>
        </p:nvSpPr>
        <p:spPr>
          <a:xfrm>
            <a:off x="5852160" y="1874520"/>
            <a:ext cx="2743200" cy="1645920"/>
          </a:xfrm>
          <a:prstGeom prst="rect">
            <a:avLst/>
          </a:prstGeom>
          <a:noFill/>
          <a:ln/>
        </p:spPr>
        <p:txBody>
          <a:bodyPr wrap="square" rtlCol="0" anchor="ctr"/>
          <a:lstStyle/>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pandas groupby &amp; aggregation</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Salary planning calculations</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matplotlib charts in Excel</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HR analytics for finance teams</a:t>
            </a:r>
            <a:endParaRPr lang="en-US" sz="1100" dirty="0"/>
          </a:p>
        </p:txBody>
      </p:sp>
      <p:sp>
        <p:nvSpPr>
          <p:cNvPr id="18" name="Shape 15"/>
          <p:cNvSpPr/>
          <p:nvPr/>
        </p:nvSpPr>
        <p:spPr>
          <a:xfrm>
            <a:off x="548640" y="4251960"/>
            <a:ext cx="8046720" cy="457200"/>
          </a:xfrm>
          <a:prstGeom prst="rect">
            <a:avLst/>
          </a:prstGeom>
          <a:solidFill>
            <a:srgbClr val="E0F2FE"/>
          </a:solidFill>
          <a:ln/>
        </p:spPr>
        <p:txBody>
          <a:bodyPr/>
          <a:lstStyle/>
          <a:p>
            <a:endParaRPr lang="en-NL"/>
          </a:p>
        </p:txBody>
      </p:sp>
      <p:pic>
        <p:nvPicPr>
          <p:cNvPr id="19" name="Image 1" descr="preencoded.png"/>
          <p:cNvPicPr>
            <a:picLocks noChangeAspect="1"/>
          </p:cNvPicPr>
          <p:nvPr/>
        </p:nvPicPr>
        <p:blipFill>
          <a:blip r:embed="rId4"/>
          <a:stretch>
            <a:fillRect/>
          </a:stretch>
        </p:blipFill>
        <p:spPr>
          <a:xfrm>
            <a:off x="685800" y="4315968"/>
            <a:ext cx="274320" cy="274320"/>
          </a:xfrm>
          <a:prstGeom prst="rect">
            <a:avLst/>
          </a:prstGeom>
        </p:spPr>
      </p:pic>
      <p:sp>
        <p:nvSpPr>
          <p:cNvPr id="20" name="Text 16"/>
          <p:cNvSpPr/>
          <p:nvPr/>
        </p:nvSpPr>
        <p:spPr>
          <a:xfrm>
            <a:off x="1051560" y="4251960"/>
            <a:ext cx="7315200" cy="45720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WORKBOOK:  Python_in_Excel_Live_Course_Sep_2025_-_SOLVED.xlsx</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NL"/>
          </a:p>
        </p:txBody>
      </p:sp>
      <p:sp>
        <p:nvSpPr>
          <p:cNvPr id="3" name="Shape 1"/>
          <p:cNvSpPr/>
          <p:nvPr/>
        </p:nvSpPr>
        <p:spPr>
          <a:xfrm>
            <a:off x="548640" y="274320"/>
            <a:ext cx="914400" cy="347472"/>
          </a:xfrm>
          <a:prstGeom prst="rect">
            <a:avLst/>
          </a:prstGeom>
          <a:solidFill>
            <a:srgbClr val="0F1B2D"/>
          </a:solidFill>
          <a:ln/>
        </p:spPr>
        <p:txBody>
          <a:bodyPr/>
          <a:lstStyle/>
          <a:p>
            <a:endParaRPr lang="en-NL"/>
          </a:p>
        </p:txBody>
      </p:sp>
      <p:sp>
        <p:nvSpPr>
          <p:cNvPr id="4" name="Text 2"/>
          <p:cNvSpPr/>
          <p:nvPr/>
        </p:nvSpPr>
        <p:spPr>
          <a:xfrm>
            <a:off x="548640" y="274320"/>
            <a:ext cx="914400" cy="347472"/>
          </a:xfrm>
          <a:prstGeom prst="rect">
            <a:avLst/>
          </a:prstGeom>
          <a:noFill/>
          <a:ln/>
        </p:spPr>
        <p:txBody>
          <a:bodyPr wrap="square" rtlCol="0" anchor="ctr"/>
          <a:lstStyle/>
          <a:p>
            <a:pPr marL="0" indent="0" algn="ctr">
              <a:buNone/>
            </a:pPr>
            <a:r>
              <a:rPr lang="en-US" sz="1200" b="1" dirty="0">
                <a:solidFill>
                  <a:srgbClr val="0D9488"/>
                </a:solidFill>
                <a:latin typeface="Trebuchet MS" pitchFamily="34" charset="0"/>
                <a:ea typeface="Trebuchet MS" pitchFamily="34" charset="-122"/>
                <a:cs typeface="Trebuchet MS" pitchFamily="34" charset="-120"/>
              </a:rPr>
              <a:t>DAY 8</a:t>
            </a:r>
            <a:endParaRPr lang="en-US" sz="1200" dirty="0"/>
          </a:p>
        </p:txBody>
      </p:sp>
      <p:sp>
        <p:nvSpPr>
          <p:cNvPr id="5" name="Shape 3"/>
          <p:cNvSpPr/>
          <p:nvPr/>
        </p:nvSpPr>
        <p:spPr>
          <a:xfrm>
            <a:off x="1554480" y="274320"/>
            <a:ext cx="2011680" cy="347472"/>
          </a:xfrm>
          <a:prstGeom prst="rect">
            <a:avLst/>
          </a:prstGeom>
          <a:solidFill>
            <a:srgbClr val="E0F2FE"/>
          </a:solidFill>
          <a:ln/>
        </p:spPr>
        <p:txBody>
          <a:bodyPr/>
          <a:lstStyle/>
          <a:p>
            <a:endParaRPr lang="en-NL"/>
          </a:p>
        </p:txBody>
      </p:sp>
      <p:sp>
        <p:nvSpPr>
          <p:cNvPr id="6" name="Text 4"/>
          <p:cNvSpPr/>
          <p:nvPr/>
        </p:nvSpPr>
        <p:spPr>
          <a:xfrm>
            <a:off x="1554480" y="274320"/>
            <a:ext cx="2011680" cy="347472"/>
          </a:xfrm>
          <a:prstGeom prst="rect">
            <a:avLst/>
          </a:prstGeom>
          <a:noFill/>
          <a:ln/>
        </p:spPr>
        <p:txBody>
          <a:bodyPr wrap="square"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Copilot + Python in Excel</a:t>
            </a:r>
            <a:endParaRPr lang="en-US" sz="1000" dirty="0"/>
          </a:p>
        </p:txBody>
      </p:sp>
      <p:sp>
        <p:nvSpPr>
          <p:cNvPr id="7" name="Text 5"/>
          <p:cNvSpPr/>
          <p:nvPr/>
        </p:nvSpPr>
        <p:spPr>
          <a:xfrm>
            <a:off x="548640" y="777240"/>
            <a:ext cx="8046720" cy="457200"/>
          </a:xfrm>
          <a:prstGeom prst="rect">
            <a:avLst/>
          </a:prstGeom>
          <a:noFill/>
          <a:ln/>
        </p:spPr>
        <p:txBody>
          <a:bodyPr wrap="square" lIns="0" tIns="0" rIns="0" bIns="0" rtlCol="0" anchor="ctr"/>
          <a:lstStyle/>
          <a:p>
            <a:pPr marL="0" indent="0">
              <a:buNone/>
            </a:pPr>
            <a:r>
              <a:rPr lang="en-US" sz="2200" b="1" dirty="0">
                <a:solidFill>
                  <a:srgbClr val="1E293B"/>
                </a:solidFill>
                <a:latin typeface="Trebuchet MS" pitchFamily="34" charset="0"/>
                <a:ea typeface="Trebuchet MS" pitchFamily="34" charset="-122"/>
                <a:cs typeface="Trebuchet MS" pitchFamily="34" charset="-120"/>
              </a:rPr>
              <a:t>Copilot + Python: SaaS Forecast &amp; Regression</a:t>
            </a:r>
            <a:endParaRPr lang="en-US" sz="2200" dirty="0"/>
          </a:p>
        </p:txBody>
      </p:sp>
      <p:pic>
        <p:nvPicPr>
          <p:cNvPr id="8" name="Image 0" descr="preencoded.png"/>
          <p:cNvPicPr>
            <a:picLocks noChangeAspect="1"/>
          </p:cNvPicPr>
          <p:nvPr/>
        </p:nvPicPr>
        <p:blipFill>
          <a:blip r:embed="rId3"/>
          <a:stretch>
            <a:fillRect/>
          </a:stretch>
        </p:blipFill>
        <p:spPr>
          <a:xfrm>
            <a:off x="548640" y="1417320"/>
            <a:ext cx="274320" cy="274320"/>
          </a:xfrm>
          <a:prstGeom prst="rect">
            <a:avLst/>
          </a:prstGeom>
        </p:spPr>
      </p:pic>
      <p:sp>
        <p:nvSpPr>
          <p:cNvPr id="9" name="Text 6"/>
          <p:cNvSpPr/>
          <p:nvPr/>
        </p:nvSpPr>
        <p:spPr>
          <a:xfrm>
            <a:off x="914400" y="141732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WHAT YOU'LL DO</a:t>
            </a:r>
            <a:endParaRPr lang="en-US" sz="1000" dirty="0"/>
          </a:p>
        </p:txBody>
      </p:sp>
      <p:sp>
        <p:nvSpPr>
          <p:cNvPr id="10" name="Text 7"/>
          <p:cNvSpPr/>
          <p:nvPr/>
        </p:nvSpPr>
        <p:spPr>
          <a:xfrm>
            <a:off x="548640" y="1737360"/>
            <a:ext cx="4754880" cy="822960"/>
          </a:xfrm>
          <a:prstGeom prst="rect">
            <a:avLst/>
          </a:prstGeom>
          <a:noFill/>
          <a:ln/>
        </p:spPr>
        <p:txBody>
          <a:bodyPr wrap="square" lIns="0" tIns="0" rIns="0" bIns="0" rtlCol="0" anchor="ctr"/>
          <a:lstStyle/>
          <a:p>
            <a:pPr marL="0" indent="0">
              <a:lnSpc>
                <a:spcPct val="135000"/>
              </a:lnSpc>
              <a:buNone/>
            </a:pPr>
            <a:r>
              <a:rPr lang="en-US" sz="1100" dirty="0">
                <a:solidFill>
                  <a:srgbClr val="64748B"/>
                </a:solidFill>
                <a:latin typeface="Calibri" pitchFamily="34" charset="0"/>
                <a:ea typeface="Calibri" pitchFamily="34" charset="-122"/>
                <a:cs typeface="Calibri" pitchFamily="34" charset="-120"/>
              </a:rPr>
              <a:t>Let Copilot write Python code for you — build a SaaS revenue forecast model and a linear regression analysis, using Copilot's "Advanced Analysis" to generate the Python automatically.</a:t>
            </a:r>
            <a:endParaRPr lang="en-US" sz="1100" dirty="0"/>
          </a:p>
        </p:txBody>
      </p:sp>
      <p:sp>
        <p:nvSpPr>
          <p:cNvPr id="11" name="Text 8"/>
          <p:cNvSpPr/>
          <p:nvPr/>
        </p:nvSpPr>
        <p:spPr>
          <a:xfrm>
            <a:off x="548640" y="2606040"/>
            <a:ext cx="2743200" cy="22860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PROMPT TO TRY</a:t>
            </a:r>
            <a:endParaRPr lang="en-US" sz="1000" dirty="0"/>
          </a:p>
        </p:txBody>
      </p:sp>
      <p:sp>
        <p:nvSpPr>
          <p:cNvPr id="12" name="Shape 9"/>
          <p:cNvSpPr/>
          <p:nvPr/>
        </p:nvSpPr>
        <p:spPr>
          <a:xfrm>
            <a:off x="548640" y="2880360"/>
            <a:ext cx="4754880" cy="1188720"/>
          </a:xfrm>
          <a:prstGeom prst="rect">
            <a:avLst/>
          </a:prstGeom>
          <a:solidFill>
            <a:srgbClr val="F1F5F9"/>
          </a:solidFill>
          <a:ln/>
        </p:spPr>
        <p:txBody>
          <a:bodyPr/>
          <a:lstStyle/>
          <a:p>
            <a:endParaRPr lang="en-NL"/>
          </a:p>
        </p:txBody>
      </p:sp>
      <p:sp>
        <p:nvSpPr>
          <p:cNvPr id="13" name="Shape 10"/>
          <p:cNvSpPr/>
          <p:nvPr/>
        </p:nvSpPr>
        <p:spPr>
          <a:xfrm>
            <a:off x="548640" y="2880360"/>
            <a:ext cx="54864" cy="1188720"/>
          </a:xfrm>
          <a:prstGeom prst="rect">
            <a:avLst/>
          </a:prstGeom>
          <a:solidFill>
            <a:srgbClr val="0D9488"/>
          </a:solidFill>
          <a:ln/>
        </p:spPr>
        <p:txBody>
          <a:bodyPr/>
          <a:lstStyle/>
          <a:p>
            <a:endParaRPr lang="en-NL"/>
          </a:p>
        </p:txBody>
      </p:sp>
      <p:sp>
        <p:nvSpPr>
          <p:cNvPr id="14" name="Text 11"/>
          <p:cNvSpPr/>
          <p:nvPr/>
        </p:nvSpPr>
        <p:spPr>
          <a:xfrm>
            <a:off x="731520" y="2926080"/>
            <a:ext cx="4434840" cy="1097280"/>
          </a:xfrm>
          <a:prstGeom prst="rect">
            <a:avLst/>
          </a:prstGeom>
          <a:noFill/>
          <a:ln/>
        </p:spPr>
        <p:txBody>
          <a:bodyPr wrap="square" lIns="0" tIns="0" rIns="0" bIns="0" rtlCol="0" anchor="ctr"/>
          <a:lstStyle/>
          <a:p>
            <a:pPr marL="0" indent="0">
              <a:lnSpc>
                <a:spcPct val="130000"/>
              </a:lnSpc>
              <a:buNone/>
            </a:pPr>
            <a:r>
              <a:rPr lang="en-US" sz="950" dirty="0">
                <a:solidFill>
                  <a:srgbClr val="1E293B"/>
                </a:solidFill>
                <a:latin typeface="Consolas" pitchFamily="34" charset="0"/>
                <a:ea typeface="Consolas" pitchFamily="34" charset="-122"/>
                <a:cs typeface="Consolas" pitchFamily="34" charset="-120"/>
              </a:rPr>
              <a:t>Ask Copilot: "Using Python, build a 12-month SaaS revenue forecast based on the data in this sheet, including MRR growth and churn assumptions. Then run a linear regression and show the R² score."</a:t>
            </a:r>
            <a:endParaRPr lang="en-US" sz="950" dirty="0"/>
          </a:p>
        </p:txBody>
      </p:sp>
      <p:sp>
        <p:nvSpPr>
          <p:cNvPr id="15" name="Shape 12"/>
          <p:cNvSpPr/>
          <p:nvPr/>
        </p:nvSpPr>
        <p:spPr>
          <a:xfrm>
            <a:off x="5669280" y="1417320"/>
            <a:ext cx="3108960" cy="2651760"/>
          </a:xfrm>
          <a:prstGeom prst="rect">
            <a:avLst/>
          </a:prstGeom>
          <a:solidFill>
            <a:srgbClr val="0F1B2D"/>
          </a:solidFill>
          <a:ln/>
        </p:spPr>
        <p:txBody>
          <a:bodyPr/>
          <a:lstStyle/>
          <a:p>
            <a:endParaRPr lang="en-NL"/>
          </a:p>
        </p:txBody>
      </p:sp>
      <p:sp>
        <p:nvSpPr>
          <p:cNvPr id="16" name="Text 13"/>
          <p:cNvSpPr/>
          <p:nvPr/>
        </p:nvSpPr>
        <p:spPr>
          <a:xfrm>
            <a:off x="5852160" y="155448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SKILLS YOU'LL BUILD</a:t>
            </a:r>
            <a:endParaRPr lang="en-US" sz="1000" dirty="0"/>
          </a:p>
        </p:txBody>
      </p:sp>
      <p:sp>
        <p:nvSpPr>
          <p:cNvPr id="17" name="Text 14"/>
          <p:cNvSpPr/>
          <p:nvPr/>
        </p:nvSpPr>
        <p:spPr>
          <a:xfrm>
            <a:off x="5852160" y="1874520"/>
            <a:ext cx="2743200" cy="1645920"/>
          </a:xfrm>
          <a:prstGeom prst="rect">
            <a:avLst/>
          </a:prstGeom>
          <a:noFill/>
          <a:ln/>
        </p:spPr>
        <p:txBody>
          <a:bodyPr wrap="square" rtlCol="0" anchor="ctr"/>
          <a:lstStyle/>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Copilot-generated Python code</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SaaS metrics modeling (MRR, churn)</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Linear regression in Excel</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Validating AI-written analytics code</a:t>
            </a:r>
            <a:endParaRPr lang="en-US" sz="1100" dirty="0"/>
          </a:p>
        </p:txBody>
      </p:sp>
      <p:sp>
        <p:nvSpPr>
          <p:cNvPr id="18" name="Shape 15"/>
          <p:cNvSpPr/>
          <p:nvPr/>
        </p:nvSpPr>
        <p:spPr>
          <a:xfrm>
            <a:off x="548640" y="4251960"/>
            <a:ext cx="8046720" cy="457200"/>
          </a:xfrm>
          <a:prstGeom prst="rect">
            <a:avLst/>
          </a:prstGeom>
          <a:solidFill>
            <a:srgbClr val="E0F2FE"/>
          </a:solidFill>
          <a:ln/>
        </p:spPr>
        <p:txBody>
          <a:bodyPr/>
          <a:lstStyle/>
          <a:p>
            <a:endParaRPr lang="en-NL"/>
          </a:p>
        </p:txBody>
      </p:sp>
      <p:pic>
        <p:nvPicPr>
          <p:cNvPr id="19" name="Image 1" descr="preencoded.png"/>
          <p:cNvPicPr>
            <a:picLocks noChangeAspect="1"/>
          </p:cNvPicPr>
          <p:nvPr/>
        </p:nvPicPr>
        <p:blipFill>
          <a:blip r:embed="rId4"/>
          <a:stretch>
            <a:fillRect/>
          </a:stretch>
        </p:blipFill>
        <p:spPr>
          <a:xfrm>
            <a:off x="685800" y="4315968"/>
            <a:ext cx="274320" cy="274320"/>
          </a:xfrm>
          <a:prstGeom prst="rect">
            <a:avLst/>
          </a:prstGeom>
        </p:spPr>
      </p:pic>
      <p:sp>
        <p:nvSpPr>
          <p:cNvPr id="20" name="Text 16"/>
          <p:cNvSpPr/>
          <p:nvPr/>
        </p:nvSpPr>
        <p:spPr>
          <a:xfrm>
            <a:off x="1051560" y="4251960"/>
            <a:ext cx="7315200" cy="45720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WORKBOOK:  Python_in_Excel_Live_Course_Sep_2025_-_SOLVED.xlsx</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NL"/>
          </a:p>
        </p:txBody>
      </p:sp>
      <p:sp>
        <p:nvSpPr>
          <p:cNvPr id="3" name="Shape 1"/>
          <p:cNvSpPr/>
          <p:nvPr/>
        </p:nvSpPr>
        <p:spPr>
          <a:xfrm>
            <a:off x="548640" y="274320"/>
            <a:ext cx="914400" cy="347472"/>
          </a:xfrm>
          <a:prstGeom prst="rect">
            <a:avLst/>
          </a:prstGeom>
          <a:solidFill>
            <a:srgbClr val="0F1B2D"/>
          </a:solidFill>
          <a:ln/>
        </p:spPr>
        <p:txBody>
          <a:bodyPr/>
          <a:lstStyle/>
          <a:p>
            <a:endParaRPr lang="en-NL"/>
          </a:p>
        </p:txBody>
      </p:sp>
      <p:sp>
        <p:nvSpPr>
          <p:cNvPr id="4" name="Text 2"/>
          <p:cNvSpPr/>
          <p:nvPr/>
        </p:nvSpPr>
        <p:spPr>
          <a:xfrm>
            <a:off x="548640" y="274320"/>
            <a:ext cx="914400" cy="347472"/>
          </a:xfrm>
          <a:prstGeom prst="rect">
            <a:avLst/>
          </a:prstGeom>
          <a:noFill/>
          <a:ln/>
        </p:spPr>
        <p:txBody>
          <a:bodyPr wrap="square" rtlCol="0" anchor="ctr"/>
          <a:lstStyle/>
          <a:p>
            <a:pPr marL="0" indent="0" algn="ctr">
              <a:buNone/>
            </a:pPr>
            <a:r>
              <a:rPr lang="en-US" sz="1200" b="1" dirty="0">
                <a:solidFill>
                  <a:srgbClr val="0D9488"/>
                </a:solidFill>
                <a:latin typeface="Trebuchet MS" pitchFamily="34" charset="0"/>
                <a:ea typeface="Trebuchet MS" pitchFamily="34" charset="-122"/>
                <a:cs typeface="Trebuchet MS" pitchFamily="34" charset="-120"/>
              </a:rPr>
              <a:t>DAY 9</a:t>
            </a:r>
            <a:endParaRPr lang="en-US" sz="1200" dirty="0"/>
          </a:p>
        </p:txBody>
      </p:sp>
      <p:sp>
        <p:nvSpPr>
          <p:cNvPr id="5" name="Shape 3"/>
          <p:cNvSpPr/>
          <p:nvPr/>
        </p:nvSpPr>
        <p:spPr>
          <a:xfrm>
            <a:off x="1554480" y="274320"/>
            <a:ext cx="2011680" cy="347472"/>
          </a:xfrm>
          <a:prstGeom prst="rect">
            <a:avLst/>
          </a:prstGeom>
          <a:solidFill>
            <a:srgbClr val="E0F2FE"/>
          </a:solidFill>
          <a:ln/>
        </p:spPr>
        <p:txBody>
          <a:bodyPr/>
          <a:lstStyle/>
          <a:p>
            <a:endParaRPr lang="en-NL"/>
          </a:p>
        </p:txBody>
      </p:sp>
      <p:sp>
        <p:nvSpPr>
          <p:cNvPr id="6" name="Text 4"/>
          <p:cNvSpPr/>
          <p:nvPr/>
        </p:nvSpPr>
        <p:spPr>
          <a:xfrm>
            <a:off x="1554480" y="274320"/>
            <a:ext cx="2011680" cy="347472"/>
          </a:xfrm>
          <a:prstGeom prst="rect">
            <a:avLst/>
          </a:prstGeom>
          <a:noFill/>
          <a:ln/>
        </p:spPr>
        <p:txBody>
          <a:bodyPr wrap="square"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ChatGPT + Python</a:t>
            </a:r>
            <a:endParaRPr lang="en-US" sz="1000" dirty="0"/>
          </a:p>
        </p:txBody>
      </p:sp>
      <p:sp>
        <p:nvSpPr>
          <p:cNvPr id="7" name="Text 5"/>
          <p:cNvSpPr/>
          <p:nvPr/>
        </p:nvSpPr>
        <p:spPr>
          <a:xfrm>
            <a:off x="548640" y="777240"/>
            <a:ext cx="8046720" cy="457200"/>
          </a:xfrm>
          <a:prstGeom prst="rect">
            <a:avLst/>
          </a:prstGeom>
          <a:noFill/>
          <a:ln/>
        </p:spPr>
        <p:txBody>
          <a:bodyPr wrap="square" lIns="0" tIns="0" rIns="0" bIns="0" rtlCol="0" anchor="ctr"/>
          <a:lstStyle/>
          <a:p>
            <a:pPr marL="0" indent="0">
              <a:buNone/>
            </a:pPr>
            <a:r>
              <a:rPr lang="en-US" sz="2200" b="1" dirty="0">
                <a:solidFill>
                  <a:srgbClr val="1E293B"/>
                </a:solidFill>
                <a:latin typeface="Trebuchet MS" pitchFamily="34" charset="0"/>
                <a:ea typeface="Trebuchet MS" pitchFamily="34" charset="-122"/>
                <a:cs typeface="Trebuchet MS" pitchFamily="34" charset="-120"/>
              </a:rPr>
              <a:t>ChatGPT + Python: Build a Finance Automation</a:t>
            </a:r>
            <a:endParaRPr lang="en-US" sz="2200" dirty="0"/>
          </a:p>
        </p:txBody>
      </p:sp>
      <p:pic>
        <p:nvPicPr>
          <p:cNvPr id="8" name="Image 0" descr="preencoded.png"/>
          <p:cNvPicPr>
            <a:picLocks noChangeAspect="1"/>
          </p:cNvPicPr>
          <p:nvPr/>
        </p:nvPicPr>
        <p:blipFill>
          <a:blip r:embed="rId3"/>
          <a:stretch>
            <a:fillRect/>
          </a:stretch>
        </p:blipFill>
        <p:spPr>
          <a:xfrm>
            <a:off x="548640" y="1417320"/>
            <a:ext cx="274320" cy="274320"/>
          </a:xfrm>
          <a:prstGeom prst="rect">
            <a:avLst/>
          </a:prstGeom>
        </p:spPr>
      </p:pic>
      <p:sp>
        <p:nvSpPr>
          <p:cNvPr id="9" name="Text 6"/>
          <p:cNvSpPr/>
          <p:nvPr/>
        </p:nvSpPr>
        <p:spPr>
          <a:xfrm>
            <a:off x="914400" y="141732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WHAT YOU'LL DO</a:t>
            </a:r>
            <a:endParaRPr lang="en-US" sz="1000" dirty="0"/>
          </a:p>
        </p:txBody>
      </p:sp>
      <p:sp>
        <p:nvSpPr>
          <p:cNvPr id="10" name="Text 7"/>
          <p:cNvSpPr/>
          <p:nvPr/>
        </p:nvSpPr>
        <p:spPr>
          <a:xfrm>
            <a:off x="548640" y="1737360"/>
            <a:ext cx="4754880" cy="822960"/>
          </a:xfrm>
          <a:prstGeom prst="rect">
            <a:avLst/>
          </a:prstGeom>
          <a:noFill/>
          <a:ln/>
        </p:spPr>
        <p:txBody>
          <a:bodyPr wrap="square" lIns="0" tIns="0" rIns="0" bIns="0" rtlCol="0" anchor="ctr"/>
          <a:lstStyle/>
          <a:p>
            <a:pPr marL="0" indent="0">
              <a:lnSpc>
                <a:spcPct val="135000"/>
              </a:lnSpc>
              <a:buNone/>
            </a:pPr>
            <a:r>
              <a:rPr lang="en-US" sz="1100" dirty="0">
                <a:solidFill>
                  <a:srgbClr val="64748B"/>
                </a:solidFill>
                <a:latin typeface="Calibri" pitchFamily="34" charset="0"/>
                <a:ea typeface="Calibri" pitchFamily="34" charset="-122"/>
                <a:cs typeface="Calibri" pitchFamily="34" charset="-120"/>
              </a:rPr>
              <a:t>Pick one automation idea from the "30 Ways" list and use ChatGPT to generate a complete Python script — from continuous variance flagging to cash-flow forecasting to GL anomaly detection.</a:t>
            </a:r>
            <a:endParaRPr lang="en-US" sz="1100" dirty="0"/>
          </a:p>
        </p:txBody>
      </p:sp>
      <p:sp>
        <p:nvSpPr>
          <p:cNvPr id="11" name="Text 8"/>
          <p:cNvSpPr/>
          <p:nvPr/>
        </p:nvSpPr>
        <p:spPr>
          <a:xfrm>
            <a:off x="548640" y="2606040"/>
            <a:ext cx="2743200" cy="22860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PROMPT TO TRY</a:t>
            </a:r>
            <a:endParaRPr lang="en-US" sz="1000" dirty="0"/>
          </a:p>
        </p:txBody>
      </p:sp>
      <p:sp>
        <p:nvSpPr>
          <p:cNvPr id="12" name="Shape 9"/>
          <p:cNvSpPr/>
          <p:nvPr/>
        </p:nvSpPr>
        <p:spPr>
          <a:xfrm>
            <a:off x="548640" y="2880360"/>
            <a:ext cx="4754880" cy="1188720"/>
          </a:xfrm>
          <a:prstGeom prst="rect">
            <a:avLst/>
          </a:prstGeom>
          <a:solidFill>
            <a:srgbClr val="F1F5F9"/>
          </a:solidFill>
          <a:ln/>
        </p:spPr>
        <p:txBody>
          <a:bodyPr/>
          <a:lstStyle/>
          <a:p>
            <a:endParaRPr lang="en-NL"/>
          </a:p>
        </p:txBody>
      </p:sp>
      <p:sp>
        <p:nvSpPr>
          <p:cNvPr id="13" name="Shape 10"/>
          <p:cNvSpPr/>
          <p:nvPr/>
        </p:nvSpPr>
        <p:spPr>
          <a:xfrm>
            <a:off x="548640" y="2880360"/>
            <a:ext cx="54864" cy="1188720"/>
          </a:xfrm>
          <a:prstGeom prst="rect">
            <a:avLst/>
          </a:prstGeom>
          <a:solidFill>
            <a:srgbClr val="0D9488"/>
          </a:solidFill>
          <a:ln/>
        </p:spPr>
        <p:txBody>
          <a:bodyPr/>
          <a:lstStyle/>
          <a:p>
            <a:endParaRPr lang="en-NL"/>
          </a:p>
        </p:txBody>
      </p:sp>
      <p:sp>
        <p:nvSpPr>
          <p:cNvPr id="14" name="Text 11"/>
          <p:cNvSpPr/>
          <p:nvPr/>
        </p:nvSpPr>
        <p:spPr>
          <a:xfrm>
            <a:off x="731520" y="2926080"/>
            <a:ext cx="4434840" cy="1097280"/>
          </a:xfrm>
          <a:prstGeom prst="rect">
            <a:avLst/>
          </a:prstGeom>
          <a:noFill/>
          <a:ln/>
        </p:spPr>
        <p:txBody>
          <a:bodyPr wrap="square" lIns="0" tIns="0" rIns="0" bIns="0" rtlCol="0" anchor="ctr"/>
          <a:lstStyle/>
          <a:p>
            <a:pPr marL="0" indent="0">
              <a:lnSpc>
                <a:spcPct val="130000"/>
              </a:lnSpc>
              <a:buNone/>
            </a:pPr>
            <a:r>
              <a:rPr lang="en-US" sz="950" dirty="0">
                <a:solidFill>
                  <a:srgbClr val="1E293B"/>
                </a:solidFill>
                <a:latin typeface="Consolas" pitchFamily="34" charset="0"/>
                <a:ea typeface="Consolas" pitchFamily="34" charset="-122"/>
                <a:cs typeface="Consolas" pitchFamily="34" charset="-120"/>
              </a:rPr>
              <a:t>Choose from 30 curated ideas. Example: "Create a Python job that runs nightly, compares actuals to forecast, and emails a variance report for any line &gt; 5%. Data: actuals.csv &amp; forecast.csv with columns Period, Account, Amount."</a:t>
            </a:r>
            <a:endParaRPr lang="en-US" sz="950" dirty="0"/>
          </a:p>
        </p:txBody>
      </p:sp>
      <p:sp>
        <p:nvSpPr>
          <p:cNvPr id="15" name="Shape 12"/>
          <p:cNvSpPr/>
          <p:nvPr/>
        </p:nvSpPr>
        <p:spPr>
          <a:xfrm>
            <a:off x="5669280" y="1417320"/>
            <a:ext cx="3108960" cy="2651760"/>
          </a:xfrm>
          <a:prstGeom prst="rect">
            <a:avLst/>
          </a:prstGeom>
          <a:solidFill>
            <a:srgbClr val="0F1B2D"/>
          </a:solidFill>
          <a:ln/>
        </p:spPr>
        <p:txBody>
          <a:bodyPr/>
          <a:lstStyle/>
          <a:p>
            <a:endParaRPr lang="en-NL"/>
          </a:p>
        </p:txBody>
      </p:sp>
      <p:sp>
        <p:nvSpPr>
          <p:cNvPr id="16" name="Text 13"/>
          <p:cNvSpPr/>
          <p:nvPr/>
        </p:nvSpPr>
        <p:spPr>
          <a:xfrm>
            <a:off x="5852160" y="1554480"/>
            <a:ext cx="2743200" cy="274320"/>
          </a:xfrm>
          <a:prstGeom prst="rect">
            <a:avLst/>
          </a:prstGeom>
          <a:noFill/>
          <a:ln/>
        </p:spPr>
        <p:txBody>
          <a:bodyPr wrap="square" lIns="0" tIns="0" rIns="0" bIns="0" rtlCol="0" anchor="ctr"/>
          <a:lstStyle/>
          <a:p>
            <a:pPr marL="0" indent="0">
              <a:buNone/>
            </a:pPr>
            <a:r>
              <a:rPr lang="en-US" sz="1000" b="1" kern="0" spc="200" dirty="0">
                <a:solidFill>
                  <a:srgbClr val="0D9488"/>
                </a:solidFill>
                <a:latin typeface="Trebuchet MS" pitchFamily="34" charset="0"/>
                <a:ea typeface="Trebuchet MS" pitchFamily="34" charset="-122"/>
                <a:cs typeface="Trebuchet MS" pitchFamily="34" charset="-120"/>
              </a:rPr>
              <a:t>SKILLS YOU'LL BUILD</a:t>
            </a:r>
            <a:endParaRPr lang="en-US" sz="1000" dirty="0"/>
          </a:p>
        </p:txBody>
      </p:sp>
      <p:sp>
        <p:nvSpPr>
          <p:cNvPr id="17" name="Text 14"/>
          <p:cNvSpPr/>
          <p:nvPr/>
        </p:nvSpPr>
        <p:spPr>
          <a:xfrm>
            <a:off x="5852160" y="1874520"/>
            <a:ext cx="2743200" cy="1645920"/>
          </a:xfrm>
          <a:prstGeom prst="rect">
            <a:avLst/>
          </a:prstGeom>
          <a:noFill/>
          <a:ln/>
        </p:spPr>
        <p:txBody>
          <a:bodyPr wrap="square" rtlCol="0" anchor="ctr"/>
          <a:lstStyle/>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ChatGPT prompt engineering for code</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Python automation for finance</a:t>
            </a:r>
            <a:endParaRPr lang="en-US" sz="1100" dirty="0"/>
          </a:p>
          <a:p>
            <a:pPr marL="342900" indent="-342900">
              <a:spcAft>
                <a:spcPts val="600"/>
              </a:spcAft>
              <a:buSzPct val="100000"/>
              <a:buChar char="•"/>
            </a:pPr>
            <a:endParaRPr lang="en-US" sz="1100" dirty="0"/>
          </a:p>
          <a:p>
            <a:pPr marL="0" indent="0">
              <a:spcAft>
                <a:spcPts val="600"/>
              </a:spcAft>
              <a:buNone/>
            </a:pPr>
            <a:r>
              <a:rPr lang="en-US" sz="1100" dirty="0">
                <a:solidFill>
                  <a:srgbClr val="FFFFFF"/>
                </a:solidFill>
                <a:latin typeface="Calibri" pitchFamily="34" charset="0"/>
                <a:ea typeface="Calibri" pitchFamily="34" charset="-122"/>
                <a:cs typeface="Calibri" pitchFamily="34" charset="-120"/>
              </a:rPr>
              <a:t>End-to-end script generation</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Evaluating AI code for production use</a:t>
            </a:r>
            <a:endParaRPr lang="en-US" sz="1100" dirty="0"/>
          </a:p>
        </p:txBody>
      </p:sp>
      <p:sp>
        <p:nvSpPr>
          <p:cNvPr id="18" name="Shape 15"/>
          <p:cNvSpPr/>
          <p:nvPr/>
        </p:nvSpPr>
        <p:spPr>
          <a:xfrm>
            <a:off x="548640" y="4251960"/>
            <a:ext cx="8046720" cy="457200"/>
          </a:xfrm>
          <a:prstGeom prst="rect">
            <a:avLst/>
          </a:prstGeom>
          <a:solidFill>
            <a:srgbClr val="E0F2FE"/>
          </a:solidFill>
          <a:ln/>
        </p:spPr>
        <p:txBody>
          <a:bodyPr/>
          <a:lstStyle/>
          <a:p>
            <a:endParaRPr lang="en-NL"/>
          </a:p>
        </p:txBody>
      </p:sp>
      <p:pic>
        <p:nvPicPr>
          <p:cNvPr id="19" name="Image 1" descr="preencoded.png"/>
          <p:cNvPicPr>
            <a:picLocks noChangeAspect="1"/>
          </p:cNvPicPr>
          <p:nvPr/>
        </p:nvPicPr>
        <p:blipFill>
          <a:blip r:embed="rId4"/>
          <a:stretch>
            <a:fillRect/>
          </a:stretch>
        </p:blipFill>
        <p:spPr>
          <a:xfrm>
            <a:off x="685800" y="4315968"/>
            <a:ext cx="274320" cy="274320"/>
          </a:xfrm>
          <a:prstGeom prst="rect">
            <a:avLst/>
          </a:prstGeom>
        </p:spPr>
      </p:pic>
      <p:sp>
        <p:nvSpPr>
          <p:cNvPr id="20" name="Text 16"/>
          <p:cNvSpPr/>
          <p:nvPr/>
        </p:nvSpPr>
        <p:spPr>
          <a:xfrm>
            <a:off x="1051560" y="4251960"/>
            <a:ext cx="7315200" cy="45720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WORKBOOK:  30_Ways_Python_ChatGPT.xlsx</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p:spPr>
        <p:txBody>
          <a:bodyPr/>
          <a:lstStyle/>
          <a:p>
            <a:endParaRPr lang="en-NL"/>
          </a:p>
        </p:txBody>
      </p:sp>
      <p:sp>
        <p:nvSpPr>
          <p:cNvPr id="3" name="Shape 1"/>
          <p:cNvSpPr/>
          <p:nvPr/>
        </p:nvSpPr>
        <p:spPr>
          <a:xfrm>
            <a:off x="548640" y="320040"/>
            <a:ext cx="914400" cy="347472"/>
          </a:xfrm>
          <a:prstGeom prst="rect">
            <a:avLst/>
          </a:prstGeom>
          <a:solidFill>
            <a:srgbClr val="1A3A5C"/>
          </a:solidFill>
          <a:ln/>
        </p:spPr>
        <p:txBody>
          <a:bodyPr/>
          <a:lstStyle/>
          <a:p>
            <a:endParaRPr lang="en-NL"/>
          </a:p>
        </p:txBody>
      </p:sp>
      <p:sp>
        <p:nvSpPr>
          <p:cNvPr id="4" name="Text 2"/>
          <p:cNvSpPr/>
          <p:nvPr/>
        </p:nvSpPr>
        <p:spPr>
          <a:xfrm>
            <a:off x="548640" y="320040"/>
            <a:ext cx="914400" cy="347472"/>
          </a:xfrm>
          <a:prstGeom prst="rect">
            <a:avLst/>
          </a:prstGeom>
          <a:noFill/>
          <a:ln/>
        </p:spPr>
        <p:txBody>
          <a:bodyPr wrap="square" rtlCol="0" anchor="ctr"/>
          <a:lstStyle/>
          <a:p>
            <a:pPr marL="0" indent="0" algn="ctr">
              <a:buNone/>
            </a:pPr>
            <a:r>
              <a:rPr lang="en-US" sz="1200" b="1" dirty="0">
                <a:solidFill>
                  <a:srgbClr val="F59E0B"/>
                </a:solidFill>
                <a:latin typeface="Trebuchet MS" pitchFamily="34" charset="0"/>
                <a:ea typeface="Trebuchet MS" pitchFamily="34" charset="-122"/>
                <a:cs typeface="Trebuchet MS" pitchFamily="34" charset="-120"/>
              </a:rPr>
              <a:t>DAY 10</a:t>
            </a:r>
            <a:endParaRPr lang="en-US" sz="1200" dirty="0"/>
          </a:p>
        </p:txBody>
      </p:sp>
      <p:pic>
        <p:nvPicPr>
          <p:cNvPr id="5" name="Image 0" descr="preencoded.png"/>
          <p:cNvPicPr>
            <a:picLocks noChangeAspect="1"/>
          </p:cNvPicPr>
          <p:nvPr/>
        </p:nvPicPr>
        <p:blipFill>
          <a:blip r:embed="rId3"/>
          <a:stretch>
            <a:fillRect/>
          </a:stretch>
        </p:blipFill>
        <p:spPr>
          <a:xfrm>
            <a:off x="548640" y="868680"/>
            <a:ext cx="411480" cy="411480"/>
          </a:xfrm>
          <a:prstGeom prst="rect">
            <a:avLst/>
          </a:prstGeom>
        </p:spPr>
      </p:pic>
      <p:sp>
        <p:nvSpPr>
          <p:cNvPr id="6" name="Text 3"/>
          <p:cNvSpPr/>
          <p:nvPr/>
        </p:nvSpPr>
        <p:spPr>
          <a:xfrm>
            <a:off x="1097280" y="868680"/>
            <a:ext cx="640080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Reflection Day</a:t>
            </a:r>
            <a:endParaRPr lang="en-US" sz="2800" dirty="0"/>
          </a:p>
        </p:txBody>
      </p:sp>
      <p:sp>
        <p:nvSpPr>
          <p:cNvPr id="7" name="Text 4"/>
          <p:cNvSpPr/>
          <p:nvPr/>
        </p:nvSpPr>
        <p:spPr>
          <a:xfrm>
            <a:off x="1097280" y="1280160"/>
            <a:ext cx="6400800" cy="32004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Which tools will transform YOUR finance workflows?</a:t>
            </a:r>
            <a:endParaRPr lang="en-US" sz="1400" dirty="0"/>
          </a:p>
        </p:txBody>
      </p:sp>
      <p:sp>
        <p:nvSpPr>
          <p:cNvPr id="8" name="Shape 5"/>
          <p:cNvSpPr/>
          <p:nvPr/>
        </p:nvSpPr>
        <p:spPr>
          <a:xfrm>
            <a:off x="548640" y="1828800"/>
            <a:ext cx="8046720" cy="475488"/>
          </a:xfrm>
          <a:prstGeom prst="rect">
            <a:avLst/>
          </a:prstGeom>
          <a:solidFill>
            <a:srgbClr val="1A3A5C"/>
          </a:solidFill>
          <a:ln/>
        </p:spPr>
        <p:txBody>
          <a:bodyPr/>
          <a:lstStyle/>
          <a:p>
            <a:endParaRPr lang="en-NL"/>
          </a:p>
        </p:txBody>
      </p:sp>
      <p:pic>
        <p:nvPicPr>
          <p:cNvPr id="9" name="Image 1" descr="preencoded.png"/>
          <p:cNvPicPr>
            <a:picLocks noChangeAspect="1"/>
          </p:cNvPicPr>
          <p:nvPr/>
        </p:nvPicPr>
        <p:blipFill>
          <a:blip r:embed="rId4"/>
          <a:stretch>
            <a:fillRect/>
          </a:stretch>
        </p:blipFill>
        <p:spPr>
          <a:xfrm>
            <a:off x="731520" y="1920240"/>
            <a:ext cx="274320" cy="274320"/>
          </a:xfrm>
          <a:prstGeom prst="rect">
            <a:avLst/>
          </a:prstGeom>
        </p:spPr>
      </p:pic>
      <p:sp>
        <p:nvSpPr>
          <p:cNvPr id="10" name="Text 6"/>
          <p:cNvSpPr/>
          <p:nvPr/>
        </p:nvSpPr>
        <p:spPr>
          <a:xfrm>
            <a:off x="1188720" y="1828800"/>
            <a:ext cx="7132320"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Rate each exercise 1–5 for usefulness to your daily work</a:t>
            </a:r>
            <a:endParaRPr lang="en-US" sz="1300" dirty="0"/>
          </a:p>
        </p:txBody>
      </p:sp>
      <p:sp>
        <p:nvSpPr>
          <p:cNvPr id="11" name="Shape 7"/>
          <p:cNvSpPr/>
          <p:nvPr/>
        </p:nvSpPr>
        <p:spPr>
          <a:xfrm>
            <a:off x="548640" y="2423160"/>
            <a:ext cx="8046720" cy="475488"/>
          </a:xfrm>
          <a:prstGeom prst="rect">
            <a:avLst/>
          </a:prstGeom>
          <a:solidFill>
            <a:srgbClr val="1A3A5C"/>
          </a:solidFill>
          <a:ln/>
        </p:spPr>
        <p:txBody>
          <a:bodyPr/>
          <a:lstStyle/>
          <a:p>
            <a:endParaRPr lang="en-NL"/>
          </a:p>
        </p:txBody>
      </p:sp>
      <p:pic>
        <p:nvPicPr>
          <p:cNvPr id="12" name="Image 2" descr="preencoded.png"/>
          <p:cNvPicPr>
            <a:picLocks noChangeAspect="1"/>
          </p:cNvPicPr>
          <p:nvPr/>
        </p:nvPicPr>
        <p:blipFill>
          <a:blip r:embed="rId5"/>
          <a:stretch>
            <a:fillRect/>
          </a:stretch>
        </p:blipFill>
        <p:spPr>
          <a:xfrm>
            <a:off x="731520" y="2514600"/>
            <a:ext cx="274320" cy="274320"/>
          </a:xfrm>
          <a:prstGeom prst="rect">
            <a:avLst/>
          </a:prstGeom>
        </p:spPr>
      </p:pic>
      <p:sp>
        <p:nvSpPr>
          <p:cNvPr id="13" name="Text 8"/>
          <p:cNvSpPr/>
          <p:nvPr/>
        </p:nvSpPr>
        <p:spPr>
          <a:xfrm>
            <a:off x="1188720" y="2423160"/>
            <a:ext cx="7132320"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Which technology saved the most time on a real-world task?</a:t>
            </a:r>
            <a:endParaRPr lang="en-US" sz="1300" dirty="0"/>
          </a:p>
        </p:txBody>
      </p:sp>
      <p:sp>
        <p:nvSpPr>
          <p:cNvPr id="14" name="Shape 9"/>
          <p:cNvSpPr/>
          <p:nvPr/>
        </p:nvSpPr>
        <p:spPr>
          <a:xfrm>
            <a:off x="548640" y="3017520"/>
            <a:ext cx="8046720" cy="475488"/>
          </a:xfrm>
          <a:prstGeom prst="rect">
            <a:avLst/>
          </a:prstGeom>
          <a:solidFill>
            <a:srgbClr val="1A3A5C"/>
          </a:solidFill>
          <a:ln/>
        </p:spPr>
        <p:txBody>
          <a:bodyPr/>
          <a:lstStyle/>
          <a:p>
            <a:endParaRPr lang="en-NL"/>
          </a:p>
        </p:txBody>
      </p:sp>
      <p:pic>
        <p:nvPicPr>
          <p:cNvPr id="15" name="Image 3" descr="preencoded.png"/>
          <p:cNvPicPr>
            <a:picLocks noChangeAspect="1"/>
          </p:cNvPicPr>
          <p:nvPr/>
        </p:nvPicPr>
        <p:blipFill>
          <a:blip r:embed="rId6"/>
          <a:stretch>
            <a:fillRect/>
          </a:stretch>
        </p:blipFill>
        <p:spPr>
          <a:xfrm>
            <a:off x="731520" y="3108960"/>
            <a:ext cx="274320" cy="274320"/>
          </a:xfrm>
          <a:prstGeom prst="rect">
            <a:avLst/>
          </a:prstGeom>
        </p:spPr>
      </p:pic>
      <p:sp>
        <p:nvSpPr>
          <p:cNvPr id="16" name="Text 10"/>
          <p:cNvSpPr/>
          <p:nvPr/>
        </p:nvSpPr>
        <p:spPr>
          <a:xfrm>
            <a:off x="1188720" y="3017520"/>
            <a:ext cx="7132320"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What would you use weekly? Monthly? Once for a big project?</a:t>
            </a:r>
            <a:endParaRPr lang="en-US" sz="1300" dirty="0"/>
          </a:p>
        </p:txBody>
      </p:sp>
      <p:sp>
        <p:nvSpPr>
          <p:cNvPr id="17" name="Shape 11"/>
          <p:cNvSpPr/>
          <p:nvPr/>
        </p:nvSpPr>
        <p:spPr>
          <a:xfrm>
            <a:off x="548640" y="3611880"/>
            <a:ext cx="8046720" cy="475488"/>
          </a:xfrm>
          <a:prstGeom prst="rect">
            <a:avLst/>
          </a:prstGeom>
          <a:solidFill>
            <a:srgbClr val="1A3A5C"/>
          </a:solidFill>
          <a:ln/>
        </p:spPr>
        <p:txBody>
          <a:bodyPr/>
          <a:lstStyle/>
          <a:p>
            <a:endParaRPr lang="en-NL"/>
          </a:p>
        </p:txBody>
      </p:sp>
      <p:pic>
        <p:nvPicPr>
          <p:cNvPr id="18" name="Image 4" descr="preencoded.png"/>
          <p:cNvPicPr>
            <a:picLocks noChangeAspect="1"/>
          </p:cNvPicPr>
          <p:nvPr/>
        </p:nvPicPr>
        <p:blipFill>
          <a:blip r:embed="rId7"/>
          <a:stretch>
            <a:fillRect/>
          </a:stretch>
        </p:blipFill>
        <p:spPr>
          <a:xfrm>
            <a:off x="731520" y="3703320"/>
            <a:ext cx="274320" cy="274320"/>
          </a:xfrm>
          <a:prstGeom prst="rect">
            <a:avLst/>
          </a:prstGeom>
        </p:spPr>
      </p:pic>
      <p:sp>
        <p:nvSpPr>
          <p:cNvPr id="19" name="Text 12"/>
          <p:cNvSpPr/>
          <p:nvPr/>
        </p:nvSpPr>
        <p:spPr>
          <a:xfrm>
            <a:off x="1188720" y="3611880"/>
            <a:ext cx="7132320"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Where did the AI get it wrong — and how did you fix it?</a:t>
            </a:r>
            <a:endParaRPr lang="en-US" sz="1300" dirty="0"/>
          </a:p>
        </p:txBody>
      </p:sp>
      <p:sp>
        <p:nvSpPr>
          <p:cNvPr id="20" name="Shape 13"/>
          <p:cNvSpPr/>
          <p:nvPr/>
        </p:nvSpPr>
        <p:spPr>
          <a:xfrm>
            <a:off x="548640" y="4206240"/>
            <a:ext cx="8046720" cy="475488"/>
          </a:xfrm>
          <a:prstGeom prst="rect">
            <a:avLst/>
          </a:prstGeom>
          <a:solidFill>
            <a:srgbClr val="1A3A5C"/>
          </a:solidFill>
          <a:ln/>
        </p:spPr>
        <p:txBody>
          <a:bodyPr/>
          <a:lstStyle/>
          <a:p>
            <a:endParaRPr lang="en-NL"/>
          </a:p>
        </p:txBody>
      </p:sp>
      <p:pic>
        <p:nvPicPr>
          <p:cNvPr id="21" name="Image 5" descr="preencoded.png"/>
          <p:cNvPicPr>
            <a:picLocks noChangeAspect="1"/>
          </p:cNvPicPr>
          <p:nvPr/>
        </p:nvPicPr>
        <p:blipFill>
          <a:blip r:embed="rId8"/>
          <a:stretch>
            <a:fillRect/>
          </a:stretch>
        </p:blipFill>
        <p:spPr>
          <a:xfrm>
            <a:off x="731520" y="4297680"/>
            <a:ext cx="274320" cy="274320"/>
          </a:xfrm>
          <a:prstGeom prst="rect">
            <a:avLst/>
          </a:prstGeom>
        </p:spPr>
      </p:pic>
      <p:sp>
        <p:nvSpPr>
          <p:cNvPr id="22" name="Text 14"/>
          <p:cNvSpPr/>
          <p:nvPr/>
        </p:nvSpPr>
        <p:spPr>
          <a:xfrm>
            <a:off x="1188720" y="4206240"/>
            <a:ext cx="7132320"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What's one process you'll change starting next Monday?</a:t>
            </a:r>
            <a:endParaRPr lang="en-US" sz="1300" dirty="0"/>
          </a:p>
        </p:txBody>
      </p:sp>
      <p:sp>
        <p:nvSpPr>
          <p:cNvPr id="23" name="Text 15"/>
          <p:cNvSpPr/>
          <p:nvPr/>
        </p:nvSpPr>
        <p:spPr>
          <a:xfrm>
            <a:off x="548640" y="4572000"/>
            <a:ext cx="8046720" cy="365760"/>
          </a:xfrm>
          <a:prstGeom prst="rect">
            <a:avLst/>
          </a:prstGeom>
          <a:noFill/>
          <a:ln/>
        </p:spPr>
        <p:txBody>
          <a:bodyPr wrap="square" lIns="0" tIns="0" rIns="0" bIns="0" rtlCol="0" anchor="ctr"/>
          <a:lstStyle/>
          <a:p>
            <a:pPr marL="0" indent="0">
              <a:buNone/>
            </a:pPr>
            <a:r>
              <a:rPr lang="en-US" sz="1100" i="1" dirty="0">
                <a:solidFill>
                  <a:srgbClr val="F59E0B"/>
                </a:solidFill>
                <a:latin typeface="Calibri" pitchFamily="34" charset="0"/>
                <a:ea typeface="Calibri" pitchFamily="34" charset="-122"/>
                <a:cs typeface="Calibri" pitchFamily="34" charset="-120"/>
              </a:rPr>
              <a:t>Deliverable: Each team member submits their Top 3 tools + a 1-paragraph "Why" for their #1 pick.</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NL"/>
          </a:p>
        </p:txBody>
      </p:sp>
      <p:sp>
        <p:nvSpPr>
          <p:cNvPr id="3" name="Shape 1"/>
          <p:cNvSpPr/>
          <p:nvPr/>
        </p:nvSpPr>
        <p:spPr>
          <a:xfrm>
            <a:off x="548640" y="1188720"/>
            <a:ext cx="54864" cy="1828800"/>
          </a:xfrm>
          <a:prstGeom prst="rect">
            <a:avLst/>
          </a:prstGeom>
          <a:solidFill>
            <a:srgbClr val="0D9488"/>
          </a:solidFill>
          <a:ln/>
        </p:spPr>
        <p:txBody>
          <a:bodyPr/>
          <a:lstStyle/>
          <a:p>
            <a:endParaRPr lang="en-NL"/>
          </a:p>
        </p:txBody>
      </p:sp>
      <p:sp>
        <p:nvSpPr>
          <p:cNvPr id="4" name="Text 2"/>
          <p:cNvSpPr/>
          <p:nvPr/>
        </p:nvSpPr>
        <p:spPr>
          <a:xfrm>
            <a:off x="822960" y="1188720"/>
            <a:ext cx="7315200" cy="1188720"/>
          </a:xfrm>
          <a:prstGeom prst="rect">
            <a:avLst/>
          </a:prstGeom>
          <a:noFill/>
          <a:ln/>
        </p:spPr>
        <p:txBody>
          <a:bodyPr wrap="square" lIns="0" tIns="0" rIns="0" bIns="0" rtlCol="0" anchor="ctr"/>
          <a:lstStyle/>
          <a:p>
            <a:pPr marL="0" indent="0">
              <a:lnSpc>
                <a:spcPct val="115000"/>
              </a:lnSpc>
              <a:buNone/>
            </a:pPr>
            <a:r>
              <a:rPr lang="en-US" sz="3400" b="1" dirty="0">
                <a:solidFill>
                  <a:srgbClr val="FFFFFF"/>
                </a:solidFill>
                <a:latin typeface="Trebuchet MS" pitchFamily="34" charset="0"/>
                <a:ea typeface="Trebuchet MS" pitchFamily="34" charset="-122"/>
                <a:cs typeface="Trebuchet MS" pitchFamily="34" charset="-120"/>
              </a:rPr>
              <a:t>The future of FP&amp;A</a:t>
            </a:r>
            <a:endParaRPr lang="en-US" sz="3400" dirty="0"/>
          </a:p>
          <a:p>
            <a:pPr marL="0" indent="0">
              <a:lnSpc>
                <a:spcPct val="115000"/>
              </a:lnSpc>
              <a:buNone/>
            </a:pPr>
            <a:r>
              <a:rPr lang="en-US" sz="3400" b="1" dirty="0">
                <a:solidFill>
                  <a:srgbClr val="FFFFFF"/>
                </a:solidFill>
                <a:latin typeface="Trebuchet MS" pitchFamily="34" charset="0"/>
                <a:ea typeface="Trebuchet MS" pitchFamily="34" charset="-122"/>
                <a:cs typeface="Trebuchet MS" pitchFamily="34" charset="-120"/>
              </a:rPr>
              <a:t>is already in your toolbar.</a:t>
            </a:r>
            <a:endParaRPr lang="en-US" sz="3400" dirty="0"/>
          </a:p>
        </p:txBody>
      </p:sp>
      <p:sp>
        <p:nvSpPr>
          <p:cNvPr id="5" name="Text 3"/>
          <p:cNvSpPr/>
          <p:nvPr/>
        </p:nvSpPr>
        <p:spPr>
          <a:xfrm>
            <a:off x="822960" y="2468880"/>
            <a:ext cx="7315200" cy="731520"/>
          </a:xfrm>
          <a:prstGeom prst="rect">
            <a:avLst/>
          </a:prstGeom>
          <a:noFill/>
          <a:ln/>
        </p:spPr>
        <p:txBody>
          <a:bodyPr wrap="square" lIns="0" tIns="0" rIns="0" bIns="0" rtlCol="0" anchor="ctr"/>
          <a:lstStyle/>
          <a:p>
            <a:pPr marL="0" indent="0">
              <a:lnSpc>
                <a:spcPct val="150000"/>
              </a:lnSpc>
              <a:buNone/>
            </a:pPr>
            <a:r>
              <a:rPr lang="en-US" sz="1500" dirty="0">
                <a:solidFill>
                  <a:srgbClr val="94A3B8"/>
                </a:solidFill>
                <a:latin typeface="Calibri" pitchFamily="34" charset="0"/>
                <a:ea typeface="Calibri" pitchFamily="34" charset="-122"/>
                <a:cs typeface="Calibri" pitchFamily="34" charset="-120"/>
              </a:rPr>
              <a:t>Give your team 2 weeks, 9 exercises, and the tools they already have.</a:t>
            </a:r>
            <a:endParaRPr lang="en-US" sz="1500" dirty="0"/>
          </a:p>
          <a:p>
            <a:pPr marL="0" indent="0">
              <a:lnSpc>
                <a:spcPct val="150000"/>
              </a:lnSpc>
              <a:buNone/>
            </a:pPr>
            <a:r>
              <a:rPr lang="en-US" sz="1500" dirty="0">
                <a:solidFill>
                  <a:srgbClr val="94A3B8"/>
                </a:solidFill>
                <a:latin typeface="Calibri" pitchFamily="34" charset="0"/>
                <a:ea typeface="Calibri" pitchFamily="34" charset="-122"/>
                <a:cs typeface="Calibri" pitchFamily="34" charset="-120"/>
              </a:rPr>
              <a:t>The results will speak for themselves.</a:t>
            </a:r>
            <a:endParaRPr lang="en-US" sz="1500" dirty="0"/>
          </a:p>
        </p:txBody>
      </p:sp>
      <p:sp>
        <p:nvSpPr>
          <p:cNvPr id="6" name="Shape 4"/>
          <p:cNvSpPr/>
          <p:nvPr/>
        </p:nvSpPr>
        <p:spPr>
          <a:xfrm>
            <a:off x="0" y="4023360"/>
            <a:ext cx="9144000" cy="1120140"/>
          </a:xfrm>
          <a:prstGeom prst="rect">
            <a:avLst/>
          </a:prstGeom>
          <a:solidFill>
            <a:srgbClr val="091420"/>
          </a:solidFill>
          <a:ln/>
        </p:spPr>
        <p:txBody>
          <a:bodyPr/>
          <a:lstStyle/>
          <a:p>
            <a:endParaRPr lang="en-NL"/>
          </a:p>
        </p:txBody>
      </p:sp>
      <p:sp>
        <p:nvSpPr>
          <p:cNvPr id="7" name="Text 5"/>
          <p:cNvSpPr/>
          <p:nvPr/>
        </p:nvSpPr>
        <p:spPr>
          <a:xfrm>
            <a:off x="822960" y="4160520"/>
            <a:ext cx="3657600" cy="32004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Christian Martinez</a:t>
            </a:r>
            <a:endParaRPr lang="en-US" sz="1600" dirty="0"/>
          </a:p>
        </p:txBody>
      </p:sp>
      <p:sp>
        <p:nvSpPr>
          <p:cNvPr id="8" name="Text 6"/>
          <p:cNvSpPr/>
          <p:nvPr/>
        </p:nvSpPr>
        <p:spPr>
          <a:xfrm>
            <a:off x="822960" y="4480560"/>
            <a:ext cx="73152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Copilot &amp; Microsoft AI in Excel — Scavenger Hunt for FP&amp;A &amp; Finance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689</TotalTime>
  <Words>1639</Words>
  <Application>Microsoft Office PowerPoint</Application>
  <PresentationFormat>On-screen Show (16:9)</PresentationFormat>
  <Paragraphs>235</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&amp; Microsoft AI in Excel — Scavenger Hunt for FP&amp;A</dc:title>
  <dc:subject>PptxGenJS Presentation</dc:subject>
  <dc:creator>Christian Martinez</dc:creator>
  <cp:lastModifiedBy>Christian M</cp:lastModifiedBy>
  <cp:revision>2</cp:revision>
  <dcterms:created xsi:type="dcterms:W3CDTF">2026-02-22T09:54:08Z</dcterms:created>
  <dcterms:modified xsi:type="dcterms:W3CDTF">2026-02-22T21:25:46Z</dcterms:modified>
</cp:coreProperties>
</file>