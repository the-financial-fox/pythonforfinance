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Budget</c:v>
                  </c:pt>
                  <c:pt idx="1">
                    <c:v>Pricing</c:v>
                  </c:pt>
                  <c:pt idx="2">
                    <c:v>Volume</c:v>
                  </c:pt>
                  <c:pt idx="3">
                    <c:v>Mix</c:v>
                  </c:pt>
                  <c:pt idx="4">
                    <c:v>FX</c:v>
                  </c:pt>
                  <c:pt idx="5">
                    <c:v>COGS</c:v>
                  </c:pt>
                  <c:pt idx="6">
                    <c:v>OpEx</c:v>
                  </c:pt>
                  <c:pt idx="7">
                    <c:v>One-time</c:v>
                  </c:pt>
                  <c:pt idx="8">
                    <c:v>Forecast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220</c:v>
                </c:pt>
                <c:pt idx="2">
                  <c:v>238</c:v>
                </c:pt>
                <c:pt idx="3">
                  <c:v>236</c:v>
                </c:pt>
                <c:pt idx="4">
                  <c:v>230</c:v>
                </c:pt>
                <c:pt idx="5">
                  <c:v>210</c:v>
                </c:pt>
                <c:pt idx="6">
                  <c:v>210</c:v>
                </c:pt>
                <c:pt idx="7">
                  <c:v>218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1B7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Budget</c:v>
                  </c:pt>
                  <c:pt idx="1">
                    <c:v>Pricing</c:v>
                  </c:pt>
                  <c:pt idx="2">
                    <c:v>Volume</c:v>
                  </c:pt>
                  <c:pt idx="3">
                    <c:v>Mix</c:v>
                  </c:pt>
                  <c:pt idx="4">
                    <c:v>FX</c:v>
                  </c:pt>
                  <c:pt idx="5">
                    <c:v>COGS</c:v>
                  </c:pt>
                  <c:pt idx="6">
                    <c:v>OpEx</c:v>
                  </c:pt>
                  <c:pt idx="7">
                    <c:v>One-time</c:v>
                  </c:pt>
                  <c:pt idx="8">
                    <c:v>Forecast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18</c:v>
                </c:pt>
                <c:pt idx="2">
                  <c:v>10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8</c:v>
                </c:pt>
                <c:pt idx="7">
                  <c:v>4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2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Budget</c:v>
                  </c:pt>
                  <c:pt idx="1">
                    <c:v>Pricing</c:v>
                  </c:pt>
                  <c:pt idx="2">
                    <c:v>Volume</c:v>
                  </c:pt>
                  <c:pt idx="3">
                    <c:v>Mix</c:v>
                  </c:pt>
                  <c:pt idx="4">
                    <c:v>FX</c:v>
                  </c:pt>
                  <c:pt idx="5">
                    <c:v>COGS</c:v>
                  </c:pt>
                  <c:pt idx="6">
                    <c:v>OpEx</c:v>
                  </c:pt>
                  <c:pt idx="7">
                    <c:v>One-time</c:v>
                  </c:pt>
                  <c:pt idx="8">
                    <c:v>Forecast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12</c:v>
                </c:pt>
                <c:pt idx="4">
                  <c:v>6</c:v>
                </c:pt>
                <c:pt idx="5">
                  <c:v>20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4F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Budget</c:v>
                  </c:pt>
                  <c:pt idx="1">
                    <c:v>Pricing</c:v>
                  </c:pt>
                  <c:pt idx="2">
                    <c:v>Volume</c:v>
                  </c:pt>
                  <c:pt idx="3">
                    <c:v>Mix</c:v>
                  </c:pt>
                  <c:pt idx="4">
                    <c:v>FX</c:v>
                  </c:pt>
                  <c:pt idx="5">
                    <c:v>COGS</c:v>
                  </c:pt>
                  <c:pt idx="6">
                    <c:v>OpEx</c:v>
                  </c:pt>
                  <c:pt idx="7">
                    <c:v>One-time</c:v>
                  </c:pt>
                  <c:pt idx="8">
                    <c:v>Forecast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220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6D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F"/>
        </a:solidFill>
        <a:ln>
          <a:noFill/>
        </a:ln>
        <a:effectLst/>
      </c:spPr>
    </c:plotArea>
    <c:plotVisOnly val="1"/>
    <c:dispBlanksAs val="span"/>
  </c:chart>
  <c:spPr>
    <a:solidFill>
      <a:srgbClr val="F8FAFF"/>
    </a:solidFill>
    <a:ln w="12700" cap="flat">
      <a:solidFill>
        <a:srgbClr val="E6EEF9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574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FP&amp;A CFO Use Case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Driver-Based Variance Bridge (Budget → Latest Forecast)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10652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single, CFO-ready view that explains what changed, why it changed, and what levers to pull next.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886200"/>
            <a:ext cx="9966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vs. Forecast bridge (EBITDA, Cash, Revenue, Opex)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Drilldowns by product, customer, geo, and cost center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toggles (pricing, volume, FX, hiring, discretionary spend)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log: owners, due dates, and expected impact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5989320"/>
            <a:ext cx="3749040" cy="45720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BFD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60990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deck • dummy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74536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FP&amp;A / Finance • Variance analytics and driver-based forecasting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65745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Dummy data • Native chart (editable)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EBITDA Variance Bridge — Budget → Latest Forecast (Dummy Data)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74536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values in $M. Example bridge for executive review and actions.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5745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Dummy data • Native chart (editable)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8412480" cy="5440680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E6EEF9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85800" y="1234440"/>
          <a:ext cx="804672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2563368"/>
            <a:ext cx="8046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3347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baseline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098280" y="960120"/>
            <a:ext cx="27432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26880" y="1143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CFO Readout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326880" y="1508760"/>
            <a:ext cx="2331720" cy="6858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36608" y="1664208"/>
            <a:ext cx="211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▲ Net $2M (0.9%)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436608" y="1965960"/>
            <a:ext cx="2112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$220M → Forecast $222M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326880" y="23317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tailwinds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0" y="25420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(+$18M), Volume (+$10M), OpEx actions (+$8M)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326880" y="31089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headwinds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26880" y="33192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COGS inflation (-$20M), Mix (-$12M), FX (-$6M)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326880" y="38862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326880" y="4096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price realization; accelerate COGS initiatives; review FX hedges.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326880" y="466344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2 decisions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26880" y="48737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Hold hiring plan; 2) Pull forward supplier renegotiations.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FP&amp;A Delivers CFO-Grade Decisions (Example Workflow)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74536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workflow: from data → insight → action → accountability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5745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Dummy data • Native chart (editable)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5440680" cy="2331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6EEF9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143000"/>
            <a:ext cx="109728" cy="23317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075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Data &amp; drivers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Actuals + pipeline + operational signals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mapping (price, volume, mix, FX, labor, cloud, SG&amp;A)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variance attribution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5440680" cy="2331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6EEF9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977640"/>
            <a:ext cx="109728" cy="2331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4223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Forecast &amp; scenarios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544568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forecast by month / quarter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toggles + sensitivities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checks (cash, covenants, headcount)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143000"/>
            <a:ext cx="5440680" cy="2331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EEF9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0840" y="1143000"/>
            <a:ext cx="109728" cy="233172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3075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Executive readout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709928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Waterfall bridge + narrative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Materiality thresholds &amp; confidence bands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Hotspots by BU / region / cost center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3977640"/>
            <a:ext cx="5440680" cy="233172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6EEF9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977640"/>
            <a:ext cx="109728" cy="233172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414223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Actions &amp; owners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544568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 with owners &amp; due dates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tracking vs. forecast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refresh → board-ready outputs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715000"/>
            <a:ext cx="10972800" cy="658368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879592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faster closes, fewer surprises, and clear decision levers tied to owners.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2026-01-30T12:58:38Z</dcterms:created>
  <dcterms:modified xsi:type="dcterms:W3CDTF">2026-01-30T12:58:38Z</dcterms:modified>
</cp:coreProperties>
</file>